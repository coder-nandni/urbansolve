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nva Sans" panose="020B0604020202020204" charset="0"/>
      <p:regular r:id="rId12"/>
    </p:embeddedFont>
    <p:embeddedFont>
      <p:font typeface="Canva Sans Bold" panose="020B0604020202020204" charset="0"/>
      <p:regular r:id="rId13"/>
    </p:embeddedFont>
    <p:embeddedFont>
      <p:font typeface="Hussar Bold" panose="020B0604020202020204" charset="0"/>
      <p:regular r:id="rId14"/>
    </p:embeddedFont>
    <p:embeddedFont>
      <p:font typeface="Poppins" panose="00000500000000000000" pitchFamily="2" charset="0"/>
      <p:regular r:id="rId15"/>
    </p:embeddedFont>
    <p:embeddedFont>
      <p:font typeface="Poppins Bold" panose="00000800000000000000"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sv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7.png"/><Relationship Id="rId4" Type="http://schemas.openxmlformats.org/officeDocument/2006/relationships/image" Target="../media/image2.svg"/><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sv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sv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9.svg"/><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2630222" y="1104900"/>
            <a:ext cx="12879297" cy="8693526"/>
          </a:xfrm>
          <a:custGeom>
            <a:avLst/>
            <a:gdLst/>
            <a:ahLst/>
            <a:cxnLst/>
            <a:rect l="l" t="t" r="r" b="b"/>
            <a:pathLst>
              <a:path w="12879297" h="8693526">
                <a:moveTo>
                  <a:pt x="0" y="0"/>
                </a:moveTo>
                <a:lnTo>
                  <a:pt x="12879297" y="0"/>
                </a:lnTo>
                <a:lnTo>
                  <a:pt x="12879297" y="8693525"/>
                </a:lnTo>
                <a:lnTo>
                  <a:pt x="0" y="8693525"/>
                </a:lnTo>
                <a:lnTo>
                  <a:pt x="0" y="0"/>
                </a:lnTo>
                <a:close/>
              </a:path>
            </a:pathLst>
          </a:custGeom>
          <a:blipFill>
            <a:blip r:embed="rId4"/>
            <a:stretch>
              <a:fillRect/>
            </a:stretch>
          </a:blipFill>
        </p:spPr>
      </p:sp>
      <p:sp>
        <p:nvSpPr>
          <p:cNvPr id="4" name="Freeform 4"/>
          <p:cNvSpPr/>
          <p:nvPr/>
        </p:nvSpPr>
        <p:spPr>
          <a:xfrm>
            <a:off x="7825316" y="3169159"/>
            <a:ext cx="1941113" cy="1175789"/>
          </a:xfrm>
          <a:custGeom>
            <a:avLst/>
            <a:gdLst/>
            <a:ahLst/>
            <a:cxnLst/>
            <a:rect l="l" t="t" r="r" b="b"/>
            <a:pathLst>
              <a:path w="2489109" h="1658369">
                <a:moveTo>
                  <a:pt x="0" y="0"/>
                </a:moveTo>
                <a:lnTo>
                  <a:pt x="2489109" y="0"/>
                </a:lnTo>
                <a:lnTo>
                  <a:pt x="2489109" y="1658369"/>
                </a:lnTo>
                <a:lnTo>
                  <a:pt x="0" y="1658369"/>
                </a:lnTo>
                <a:lnTo>
                  <a:pt x="0" y="0"/>
                </a:lnTo>
                <a:close/>
              </a:path>
            </a:pathLst>
          </a:custGeom>
          <a:blipFill>
            <a:blip r:embed="rId5"/>
            <a:stretch>
              <a:fillRect/>
            </a:stretch>
          </a:blipFill>
        </p:spPr>
      </p:sp>
      <p:sp>
        <p:nvSpPr>
          <p:cNvPr id="5" name="Freeform 5"/>
          <p:cNvSpPr/>
          <p:nvPr/>
        </p:nvSpPr>
        <p:spPr>
          <a:xfrm>
            <a:off x="231605" y="-267328"/>
            <a:ext cx="1865096" cy="1865096"/>
          </a:xfrm>
          <a:custGeom>
            <a:avLst/>
            <a:gdLst/>
            <a:ahLst/>
            <a:cxnLst/>
            <a:rect l="l" t="t" r="r" b="b"/>
            <a:pathLst>
              <a:path w="1865096" h="1865096">
                <a:moveTo>
                  <a:pt x="0" y="0"/>
                </a:moveTo>
                <a:lnTo>
                  <a:pt x="1865095" y="0"/>
                </a:lnTo>
                <a:lnTo>
                  <a:pt x="1865095" y="1865095"/>
                </a:lnTo>
                <a:lnTo>
                  <a:pt x="0" y="1865095"/>
                </a:lnTo>
                <a:lnTo>
                  <a:pt x="0" y="0"/>
                </a:lnTo>
                <a:close/>
              </a:path>
            </a:pathLst>
          </a:custGeom>
          <a:blipFill>
            <a:blip r:embed="rId6"/>
            <a:stretch>
              <a:fillRect/>
            </a:stretch>
          </a:blipFill>
        </p:spPr>
      </p:sp>
      <p:sp>
        <p:nvSpPr>
          <p:cNvPr id="6" name="Freeform 6"/>
          <p:cNvSpPr/>
          <p:nvPr/>
        </p:nvSpPr>
        <p:spPr>
          <a:xfrm>
            <a:off x="8073059" y="-95603"/>
            <a:ext cx="1693370" cy="1693370"/>
          </a:xfrm>
          <a:custGeom>
            <a:avLst/>
            <a:gdLst/>
            <a:ahLst/>
            <a:cxnLst/>
            <a:rect l="l" t="t" r="r" b="b"/>
            <a:pathLst>
              <a:path w="1693370" h="1693370">
                <a:moveTo>
                  <a:pt x="0" y="0"/>
                </a:moveTo>
                <a:lnTo>
                  <a:pt x="1693370" y="0"/>
                </a:lnTo>
                <a:lnTo>
                  <a:pt x="1693370" y="1693370"/>
                </a:lnTo>
                <a:lnTo>
                  <a:pt x="0" y="1693370"/>
                </a:lnTo>
                <a:lnTo>
                  <a:pt x="0" y="0"/>
                </a:lnTo>
                <a:close/>
              </a:path>
            </a:pathLst>
          </a:custGeom>
          <a:blipFill>
            <a:blip r:embed="rId7"/>
            <a:stretch>
              <a:fillRect/>
            </a:stretch>
          </a:blipFill>
        </p:spPr>
      </p:sp>
      <p:sp>
        <p:nvSpPr>
          <p:cNvPr id="7" name="Freeform 7"/>
          <p:cNvSpPr/>
          <p:nvPr/>
        </p:nvSpPr>
        <p:spPr>
          <a:xfrm>
            <a:off x="16194411" y="106458"/>
            <a:ext cx="1514020" cy="1491309"/>
          </a:xfrm>
          <a:custGeom>
            <a:avLst/>
            <a:gdLst/>
            <a:ahLst/>
            <a:cxnLst/>
            <a:rect l="l" t="t" r="r" b="b"/>
            <a:pathLst>
              <a:path w="1514020" h="1491309">
                <a:moveTo>
                  <a:pt x="0" y="0"/>
                </a:moveTo>
                <a:lnTo>
                  <a:pt x="1514019" y="0"/>
                </a:lnTo>
                <a:lnTo>
                  <a:pt x="1514019" y="1491309"/>
                </a:lnTo>
                <a:lnTo>
                  <a:pt x="0" y="1491309"/>
                </a:lnTo>
                <a:lnTo>
                  <a:pt x="0" y="0"/>
                </a:lnTo>
                <a:close/>
              </a:path>
            </a:pathLst>
          </a:custGeom>
          <a:blipFill>
            <a:blip r:embed="rId8"/>
            <a:stretch>
              <a:fillRect/>
            </a:stretch>
          </a:blipFill>
        </p:spPr>
      </p:sp>
      <p:sp>
        <p:nvSpPr>
          <p:cNvPr id="8" name="TextBox 8"/>
          <p:cNvSpPr txBox="1"/>
          <p:nvPr/>
        </p:nvSpPr>
        <p:spPr>
          <a:xfrm>
            <a:off x="6567892" y="1837324"/>
            <a:ext cx="4703703" cy="752385"/>
          </a:xfrm>
          <a:prstGeom prst="rect">
            <a:avLst/>
          </a:prstGeom>
        </p:spPr>
        <p:txBody>
          <a:bodyPr lIns="0" tIns="0" rIns="0" bIns="0" rtlCol="0" anchor="t">
            <a:spAutoFit/>
          </a:bodyPr>
          <a:lstStyle/>
          <a:p>
            <a:pPr algn="ctr">
              <a:lnSpc>
                <a:spcPts val="7335"/>
              </a:lnSpc>
              <a:spcBef>
                <a:spcPct val="0"/>
              </a:spcBef>
            </a:pPr>
            <a:r>
              <a:rPr lang="en-US" sz="1400" b="1" dirty="0">
                <a:solidFill>
                  <a:srgbClr val="0C1513"/>
                </a:solidFill>
                <a:latin typeface="Poppins Bold"/>
                <a:ea typeface="Poppins Bold"/>
                <a:cs typeface="Poppins Bold"/>
                <a:sym typeface="Poppins Bold"/>
              </a:rPr>
              <a:t>URBAN SOLVE</a:t>
            </a:r>
          </a:p>
        </p:txBody>
      </p:sp>
      <p:sp>
        <p:nvSpPr>
          <p:cNvPr id="9" name="TextBox 9"/>
          <p:cNvSpPr txBox="1"/>
          <p:nvPr/>
        </p:nvSpPr>
        <p:spPr>
          <a:xfrm>
            <a:off x="5134768" y="7381424"/>
            <a:ext cx="7870206" cy="511935"/>
          </a:xfrm>
          <a:prstGeom prst="rect">
            <a:avLst/>
          </a:prstGeom>
        </p:spPr>
        <p:txBody>
          <a:bodyPr lIns="0" tIns="0" rIns="0" bIns="0" rtlCol="0" anchor="t">
            <a:spAutoFit/>
          </a:bodyPr>
          <a:lstStyle/>
          <a:p>
            <a:pPr algn="ctr">
              <a:lnSpc>
                <a:spcPts val="4806"/>
              </a:lnSpc>
              <a:spcBef>
                <a:spcPct val="0"/>
              </a:spcBef>
            </a:pPr>
            <a:r>
              <a:rPr lang="en-US" sz="1400" b="1" dirty="0">
                <a:solidFill>
                  <a:srgbClr val="0C1513"/>
                </a:solidFill>
                <a:latin typeface="Poppins Bold"/>
                <a:ea typeface="Poppins Bold"/>
                <a:cs typeface="Poppins Bold"/>
                <a:sym typeface="Poppins Bold"/>
              </a:rPr>
              <a:t>Presented by Code Crushers</a:t>
            </a:r>
          </a:p>
        </p:txBody>
      </p:sp>
      <p:sp>
        <p:nvSpPr>
          <p:cNvPr id="10" name="TextBox 10"/>
          <p:cNvSpPr txBox="1"/>
          <p:nvPr/>
        </p:nvSpPr>
        <p:spPr>
          <a:xfrm>
            <a:off x="2705907" y="3953959"/>
            <a:ext cx="12035385" cy="700385"/>
          </a:xfrm>
          <a:prstGeom prst="rect">
            <a:avLst/>
          </a:prstGeom>
        </p:spPr>
        <p:txBody>
          <a:bodyPr lIns="0" tIns="0" rIns="0" bIns="0" rtlCol="0" anchor="t">
            <a:spAutoFit/>
          </a:bodyPr>
          <a:lstStyle/>
          <a:p>
            <a:pPr algn="ctr">
              <a:lnSpc>
                <a:spcPts val="6802"/>
              </a:lnSpc>
            </a:pPr>
            <a:r>
              <a:rPr lang="en-US" sz="1400" b="1" dirty="0">
                <a:solidFill>
                  <a:srgbClr val="0C1513"/>
                </a:solidFill>
                <a:latin typeface="Canva Sans Bold"/>
                <a:ea typeface="Canva Sans Bold"/>
                <a:cs typeface="Canva Sans Bold"/>
                <a:sym typeface="Canva Sans Bold"/>
              </a:rPr>
              <a:t>Team Id : CC3H-223</a:t>
            </a:r>
          </a:p>
        </p:txBody>
      </p:sp>
      <p:sp>
        <p:nvSpPr>
          <p:cNvPr id="11" name="TextBox 11"/>
          <p:cNvSpPr txBox="1"/>
          <p:nvPr/>
        </p:nvSpPr>
        <p:spPr>
          <a:xfrm>
            <a:off x="3127863" y="4994797"/>
            <a:ext cx="11191472" cy="645690"/>
          </a:xfrm>
          <a:prstGeom prst="rect">
            <a:avLst/>
          </a:prstGeom>
        </p:spPr>
        <p:txBody>
          <a:bodyPr lIns="0" tIns="0" rIns="0" bIns="0" rtlCol="0" anchor="t">
            <a:spAutoFit/>
          </a:bodyPr>
          <a:lstStyle/>
          <a:p>
            <a:pPr algn="ctr">
              <a:lnSpc>
                <a:spcPts val="6325"/>
              </a:lnSpc>
            </a:pPr>
            <a:r>
              <a:rPr lang="en-US" sz="1200" b="1" dirty="0">
                <a:solidFill>
                  <a:srgbClr val="0C1513"/>
                </a:solidFill>
                <a:latin typeface="Canva Sans Bold"/>
                <a:ea typeface="Canva Sans Bold"/>
                <a:cs typeface="Canva Sans Bold"/>
                <a:sym typeface="Canva Sans Bold"/>
              </a:rPr>
              <a:t>Team Name : Code Crushers</a:t>
            </a:r>
          </a:p>
        </p:txBody>
      </p:sp>
      <p:sp>
        <p:nvSpPr>
          <p:cNvPr id="12" name="TextBox 12"/>
          <p:cNvSpPr txBox="1"/>
          <p:nvPr/>
        </p:nvSpPr>
        <p:spPr>
          <a:xfrm>
            <a:off x="562622" y="6032276"/>
            <a:ext cx="11701106" cy="1004762"/>
          </a:xfrm>
          <a:prstGeom prst="rect">
            <a:avLst/>
          </a:prstGeom>
        </p:spPr>
        <p:txBody>
          <a:bodyPr lIns="0" tIns="0" rIns="0" bIns="0" rtlCol="0" anchor="t">
            <a:spAutoFit/>
          </a:bodyPr>
          <a:lstStyle/>
          <a:p>
            <a:pPr marL="0" lvl="0" indent="0" algn="ctr">
              <a:lnSpc>
                <a:spcPts val="4324"/>
              </a:lnSpc>
              <a:spcBef>
                <a:spcPct val="0"/>
              </a:spcBef>
            </a:pPr>
            <a:r>
              <a:rPr lang="en-US" sz="1200" b="1" u="none" strike="noStrike" dirty="0">
                <a:solidFill>
                  <a:srgbClr val="EE773B"/>
                </a:solidFill>
                <a:latin typeface="Canva Sans Bold"/>
                <a:ea typeface="Canva Sans Bold"/>
                <a:cs typeface="Canva Sans Bold"/>
                <a:sym typeface="Canva Sans Bold"/>
              </a:rPr>
              <a:t>Team Leader </a:t>
            </a:r>
          </a:p>
          <a:p>
            <a:pPr marL="0" lvl="0" indent="0" algn="ctr">
              <a:lnSpc>
                <a:spcPts val="4324"/>
              </a:lnSpc>
              <a:spcBef>
                <a:spcPct val="0"/>
              </a:spcBef>
            </a:pPr>
            <a:r>
              <a:rPr lang="en-US" sz="1200" u="none" strike="noStrike" dirty="0">
                <a:solidFill>
                  <a:srgbClr val="0C1513"/>
                </a:solidFill>
                <a:latin typeface="Canva Sans"/>
                <a:ea typeface="Canva Sans"/>
                <a:cs typeface="Canva Sans"/>
                <a:sym typeface="Canva Sans"/>
              </a:rPr>
              <a:t>Nandni</a:t>
            </a:r>
          </a:p>
        </p:txBody>
      </p:sp>
      <p:sp>
        <p:nvSpPr>
          <p:cNvPr id="13" name="TextBox 13"/>
          <p:cNvSpPr txBox="1"/>
          <p:nvPr/>
        </p:nvSpPr>
        <p:spPr>
          <a:xfrm>
            <a:off x="7048788" y="5993275"/>
            <a:ext cx="8903294" cy="1027204"/>
          </a:xfrm>
          <a:prstGeom prst="rect">
            <a:avLst/>
          </a:prstGeom>
        </p:spPr>
        <p:txBody>
          <a:bodyPr lIns="0" tIns="0" rIns="0" bIns="0" rtlCol="0" anchor="t">
            <a:spAutoFit/>
          </a:bodyPr>
          <a:lstStyle/>
          <a:p>
            <a:pPr algn="ctr">
              <a:lnSpc>
                <a:spcPts val="4426"/>
              </a:lnSpc>
            </a:pPr>
            <a:r>
              <a:rPr lang="en-US" sz="1200" b="1" dirty="0">
                <a:solidFill>
                  <a:srgbClr val="EE773B"/>
                </a:solidFill>
                <a:latin typeface="Canva Sans Bold"/>
                <a:ea typeface="Canva Sans Bold"/>
                <a:cs typeface="Canva Sans Bold"/>
                <a:sym typeface="Canva Sans Bold"/>
              </a:rPr>
              <a:t>Team Members</a:t>
            </a:r>
          </a:p>
          <a:p>
            <a:pPr algn="ctr">
              <a:lnSpc>
                <a:spcPts val="4426"/>
              </a:lnSpc>
            </a:pPr>
            <a:r>
              <a:rPr lang="en-US" sz="1200" dirty="0" err="1">
                <a:solidFill>
                  <a:srgbClr val="0C1513"/>
                </a:solidFill>
                <a:latin typeface="Canva Sans"/>
                <a:ea typeface="Canva Sans"/>
                <a:cs typeface="Canva Sans"/>
                <a:sym typeface="Canva Sans"/>
              </a:rPr>
              <a:t>Nandini,Khushi</a:t>
            </a:r>
            <a:endParaRPr lang="en-US" sz="1200" dirty="0">
              <a:solidFill>
                <a:srgbClr val="0C1513"/>
              </a:solidFill>
              <a:latin typeface="Canva Sans"/>
              <a:ea typeface="Canva Sans"/>
              <a:cs typeface="Canva Sans"/>
              <a:sym typeface="Canv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5400000">
            <a:off x="13440972" y="-1054589"/>
            <a:ext cx="3792439" cy="5901617"/>
          </a:xfrm>
          <a:custGeom>
            <a:avLst/>
            <a:gdLst/>
            <a:ahLst/>
            <a:cxnLst/>
            <a:rect l="l" t="t" r="r" b="b"/>
            <a:pathLst>
              <a:path w="3792439" h="5901617">
                <a:moveTo>
                  <a:pt x="0" y="0"/>
                </a:moveTo>
                <a:lnTo>
                  <a:pt x="3792439" y="0"/>
                </a:lnTo>
                <a:lnTo>
                  <a:pt x="3792439" y="5901617"/>
                </a:lnTo>
                <a:lnTo>
                  <a:pt x="0" y="590161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513669" y="9073998"/>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961575" y="827905"/>
            <a:ext cx="9184658" cy="9173177"/>
          </a:xfrm>
          <a:custGeom>
            <a:avLst/>
            <a:gdLst/>
            <a:ahLst/>
            <a:cxnLst/>
            <a:rect l="l" t="t" r="r" b="b"/>
            <a:pathLst>
              <a:path w="9184658" h="9173177">
                <a:moveTo>
                  <a:pt x="0" y="0"/>
                </a:moveTo>
                <a:lnTo>
                  <a:pt x="9184658" y="0"/>
                </a:lnTo>
                <a:lnTo>
                  <a:pt x="9184658" y="9173177"/>
                </a:lnTo>
                <a:lnTo>
                  <a:pt x="0" y="9173177"/>
                </a:lnTo>
                <a:lnTo>
                  <a:pt x="0" y="0"/>
                </a:lnTo>
                <a:close/>
              </a:path>
            </a:pathLst>
          </a:custGeom>
          <a:blipFill>
            <a:blip r:embed="rId6"/>
            <a:stretch>
              <a:fillRect/>
            </a:stretch>
          </a:blipFill>
        </p:spPr>
      </p:sp>
      <p:sp>
        <p:nvSpPr>
          <p:cNvPr id="6" name="Freeform 6"/>
          <p:cNvSpPr/>
          <p:nvPr/>
        </p:nvSpPr>
        <p:spPr>
          <a:xfrm>
            <a:off x="11513669" y="0"/>
            <a:ext cx="6774331" cy="10287000"/>
          </a:xfrm>
          <a:custGeom>
            <a:avLst/>
            <a:gdLst/>
            <a:ahLst/>
            <a:cxnLst/>
            <a:rect l="l" t="t" r="r" b="b"/>
            <a:pathLst>
              <a:path w="6774331" h="10287000">
                <a:moveTo>
                  <a:pt x="0" y="0"/>
                </a:moveTo>
                <a:lnTo>
                  <a:pt x="6774331" y="0"/>
                </a:lnTo>
                <a:lnTo>
                  <a:pt x="6774331" y="10287000"/>
                </a:lnTo>
                <a:lnTo>
                  <a:pt x="0" y="10287000"/>
                </a:lnTo>
                <a:lnTo>
                  <a:pt x="0" y="0"/>
                </a:lnTo>
                <a:close/>
              </a:path>
            </a:pathLst>
          </a:custGeom>
          <a:blipFill>
            <a:blip r:embed="rId7"/>
            <a:stretch>
              <a:fillRect l="-10663" r="-10818"/>
            </a:stretch>
          </a:blipFill>
        </p:spPr>
      </p:sp>
      <p:sp>
        <p:nvSpPr>
          <p:cNvPr id="7" name="TextBox 7"/>
          <p:cNvSpPr txBox="1"/>
          <p:nvPr/>
        </p:nvSpPr>
        <p:spPr>
          <a:xfrm>
            <a:off x="2157182" y="2835055"/>
            <a:ext cx="6514695" cy="871392"/>
          </a:xfrm>
          <a:prstGeom prst="rect">
            <a:avLst/>
          </a:prstGeom>
        </p:spPr>
        <p:txBody>
          <a:bodyPr lIns="0" tIns="0" rIns="0" bIns="0" rtlCol="0" anchor="t">
            <a:spAutoFit/>
          </a:bodyPr>
          <a:lstStyle/>
          <a:p>
            <a:pPr algn="ctr">
              <a:lnSpc>
                <a:spcPts val="8512"/>
              </a:lnSpc>
              <a:spcBef>
                <a:spcPct val="0"/>
              </a:spcBef>
            </a:pPr>
            <a:r>
              <a:rPr lang="en-US" sz="1400" dirty="0">
                <a:solidFill>
                  <a:srgbClr val="263C40"/>
                </a:solidFill>
                <a:latin typeface="Hussar Bold"/>
                <a:ea typeface="Hussar Bold"/>
                <a:cs typeface="Hussar Bold"/>
                <a:sym typeface="Hussar Bold"/>
              </a:rPr>
              <a:t>Introduction</a:t>
            </a:r>
          </a:p>
        </p:txBody>
      </p:sp>
      <p:sp>
        <p:nvSpPr>
          <p:cNvPr id="8" name="TextBox 8"/>
          <p:cNvSpPr txBox="1"/>
          <p:nvPr/>
        </p:nvSpPr>
        <p:spPr>
          <a:xfrm>
            <a:off x="2157182" y="5076825"/>
            <a:ext cx="6793444" cy="2221698"/>
          </a:xfrm>
          <a:prstGeom prst="rect">
            <a:avLst/>
          </a:prstGeom>
        </p:spPr>
        <p:txBody>
          <a:bodyPr lIns="0" tIns="0" rIns="0" bIns="0" rtlCol="0" anchor="t">
            <a:spAutoFit/>
          </a:bodyPr>
          <a:lstStyle/>
          <a:p>
            <a:pPr algn="l">
              <a:lnSpc>
                <a:spcPts val="3499"/>
              </a:lnSpc>
              <a:spcBef>
                <a:spcPct val="0"/>
              </a:spcBef>
            </a:pPr>
            <a:r>
              <a:rPr lang="en-US" sz="1200" dirty="0">
                <a:solidFill>
                  <a:srgbClr val="263C40"/>
                </a:solidFill>
                <a:latin typeface="Poppins"/>
                <a:ea typeface="Poppins"/>
                <a:cs typeface="Poppins"/>
                <a:sym typeface="Poppins"/>
              </a:rPr>
              <a:t>Urbanization has led to increasing challenges like traffic, pollution, and waste management. Existing systems to handle these issues are often slow and inefficient.</a:t>
            </a:r>
          </a:p>
          <a:p>
            <a:pPr algn="l">
              <a:lnSpc>
                <a:spcPts val="3499"/>
              </a:lnSpc>
              <a:spcBef>
                <a:spcPct val="0"/>
              </a:spcBef>
            </a:pPr>
            <a:r>
              <a:rPr lang="en-US" sz="1200" dirty="0">
                <a:solidFill>
                  <a:srgbClr val="263C40"/>
                </a:solidFill>
                <a:latin typeface="Poppins"/>
                <a:ea typeface="Poppins"/>
                <a:cs typeface="Poppins"/>
                <a:sym typeface="Poppins"/>
              </a:rPr>
              <a:t>The Urban Problem Management System is a digital platform that enables citizens to report problems easily and helps authorities resolve them quickly.</a:t>
            </a:r>
          </a:p>
          <a:p>
            <a:pPr algn="l">
              <a:lnSpc>
                <a:spcPts val="3499"/>
              </a:lnSpc>
              <a:spcBef>
                <a:spcPct val="0"/>
              </a:spcBef>
            </a:pPr>
            <a:endParaRPr lang="en-US" sz="2499" dirty="0">
              <a:solidFill>
                <a:srgbClr val="263C40"/>
              </a:solidFill>
              <a:latin typeface="Poppins"/>
              <a:ea typeface="Poppins"/>
              <a:cs typeface="Poppins"/>
              <a:sym typeface="Poppins"/>
            </a:endParaRPr>
          </a:p>
        </p:txBody>
      </p:sp>
      <p:sp>
        <p:nvSpPr>
          <p:cNvPr id="9" name="TextBox 9"/>
          <p:cNvSpPr txBox="1"/>
          <p:nvPr/>
        </p:nvSpPr>
        <p:spPr>
          <a:xfrm>
            <a:off x="3497837" y="3612434"/>
            <a:ext cx="4758515" cy="347428"/>
          </a:xfrm>
          <a:prstGeom prst="rect">
            <a:avLst/>
          </a:prstGeom>
        </p:spPr>
        <p:txBody>
          <a:bodyPr lIns="0" tIns="0" rIns="0" bIns="0" rtlCol="0" anchor="t">
            <a:spAutoFit/>
          </a:bodyPr>
          <a:lstStyle/>
          <a:p>
            <a:pPr algn="ctr">
              <a:lnSpc>
                <a:spcPts val="2900"/>
              </a:lnSpc>
            </a:pPr>
            <a:endParaRPr/>
          </a:p>
        </p:txBody>
      </p:sp>
      <p:sp>
        <p:nvSpPr>
          <p:cNvPr id="10" name="TextBox 10"/>
          <p:cNvSpPr txBox="1"/>
          <p:nvPr/>
        </p:nvSpPr>
        <p:spPr>
          <a:xfrm>
            <a:off x="1804139" y="3738523"/>
            <a:ext cx="7146487" cy="1056928"/>
          </a:xfrm>
          <a:prstGeom prst="rect">
            <a:avLst/>
          </a:prstGeom>
        </p:spPr>
        <p:txBody>
          <a:bodyPr lIns="0" tIns="0" rIns="0" bIns="0" rtlCol="0" anchor="t">
            <a:spAutoFit/>
          </a:bodyPr>
          <a:lstStyle/>
          <a:p>
            <a:pPr algn="ctr">
              <a:lnSpc>
                <a:spcPts val="5059"/>
              </a:lnSpc>
            </a:pPr>
            <a:r>
              <a:rPr lang="en-US" sz="1400" b="1" dirty="0" err="1">
                <a:solidFill>
                  <a:srgbClr val="263C40"/>
                </a:solidFill>
                <a:latin typeface="Canva Sans Bold"/>
                <a:ea typeface="Canva Sans Bold"/>
                <a:cs typeface="Canva Sans Bold"/>
                <a:sym typeface="Canva Sans Bold"/>
              </a:rPr>
              <a:t>UrbanSolve</a:t>
            </a:r>
            <a:r>
              <a:rPr lang="en-US" sz="1400" b="1" dirty="0">
                <a:solidFill>
                  <a:srgbClr val="263C40"/>
                </a:solidFill>
                <a:latin typeface="Canva Sans Bold"/>
                <a:ea typeface="Canva Sans Bold"/>
                <a:cs typeface="Canva Sans Bold"/>
                <a:sym typeface="Canva Sans Bold"/>
              </a:rPr>
              <a:t>  </a:t>
            </a:r>
          </a:p>
          <a:p>
            <a:pPr algn="ctr">
              <a:lnSpc>
                <a:spcPts val="3379"/>
              </a:lnSpc>
            </a:pPr>
            <a:r>
              <a:rPr lang="en-US" sz="1400" b="1" dirty="0">
                <a:solidFill>
                  <a:srgbClr val="263C40"/>
                </a:solidFill>
                <a:latin typeface="Canva Sans Bold"/>
                <a:ea typeface="Canva Sans Bold"/>
                <a:cs typeface="Canva Sans Bold"/>
                <a:sym typeface="Canva Sans Bold"/>
              </a:rPr>
              <a:t>City Problem Management System</a:t>
            </a:r>
          </a:p>
        </p:txBody>
      </p:sp>
      <p:sp>
        <p:nvSpPr>
          <p:cNvPr id="11" name="Freeform 11"/>
          <p:cNvSpPr/>
          <p:nvPr/>
        </p:nvSpPr>
        <p:spPr>
          <a:xfrm>
            <a:off x="794093" y="-112524"/>
            <a:ext cx="1658719" cy="1711879"/>
          </a:xfrm>
          <a:custGeom>
            <a:avLst/>
            <a:gdLst/>
            <a:ahLst/>
            <a:cxnLst/>
            <a:rect l="l" t="t" r="r" b="b"/>
            <a:pathLst>
              <a:path w="1658719" h="1711879">
                <a:moveTo>
                  <a:pt x="0" y="0"/>
                </a:moveTo>
                <a:lnTo>
                  <a:pt x="1658719" y="0"/>
                </a:lnTo>
                <a:lnTo>
                  <a:pt x="1658719" y="1711879"/>
                </a:lnTo>
                <a:lnTo>
                  <a:pt x="0" y="1711879"/>
                </a:lnTo>
                <a:lnTo>
                  <a:pt x="0" y="0"/>
                </a:lnTo>
                <a:close/>
              </a:path>
            </a:pathLst>
          </a:custGeom>
          <a:blipFill>
            <a:blip r:embed="rId8"/>
            <a:stretch>
              <a:fillRect l="-1602" r="-1602"/>
            </a:stretch>
          </a:blipFill>
        </p:spPr>
      </p:sp>
      <p:sp>
        <p:nvSpPr>
          <p:cNvPr id="12" name="Freeform 12"/>
          <p:cNvSpPr/>
          <p:nvPr/>
        </p:nvSpPr>
        <p:spPr>
          <a:xfrm>
            <a:off x="7630964" y="-13103"/>
            <a:ext cx="1513036" cy="1513036"/>
          </a:xfrm>
          <a:custGeom>
            <a:avLst/>
            <a:gdLst/>
            <a:ahLst/>
            <a:cxnLst/>
            <a:rect l="l" t="t" r="r" b="b"/>
            <a:pathLst>
              <a:path w="1513036" h="1513036">
                <a:moveTo>
                  <a:pt x="0" y="0"/>
                </a:moveTo>
                <a:lnTo>
                  <a:pt x="1513036" y="0"/>
                </a:lnTo>
                <a:lnTo>
                  <a:pt x="1513036" y="1513036"/>
                </a:lnTo>
                <a:lnTo>
                  <a:pt x="0" y="1513036"/>
                </a:lnTo>
                <a:lnTo>
                  <a:pt x="0" y="0"/>
                </a:lnTo>
                <a:close/>
              </a:path>
            </a:pathLst>
          </a:custGeom>
          <a:blipFill>
            <a:blip r:embed="rId9"/>
            <a:stretch>
              <a:fillRect/>
            </a:stretch>
          </a:blipFill>
        </p:spPr>
      </p:sp>
      <p:sp>
        <p:nvSpPr>
          <p:cNvPr id="13" name="Freeform 13"/>
          <p:cNvSpPr/>
          <p:nvPr/>
        </p:nvSpPr>
        <p:spPr>
          <a:xfrm>
            <a:off x="16745941" y="116669"/>
            <a:ext cx="1416684" cy="1395434"/>
          </a:xfrm>
          <a:custGeom>
            <a:avLst/>
            <a:gdLst/>
            <a:ahLst/>
            <a:cxnLst/>
            <a:rect l="l" t="t" r="r" b="b"/>
            <a:pathLst>
              <a:path w="1416684" h="1395434">
                <a:moveTo>
                  <a:pt x="0" y="0"/>
                </a:moveTo>
                <a:lnTo>
                  <a:pt x="1416684" y="0"/>
                </a:lnTo>
                <a:lnTo>
                  <a:pt x="1416684" y="1395434"/>
                </a:lnTo>
                <a:lnTo>
                  <a:pt x="0" y="1395434"/>
                </a:lnTo>
                <a:lnTo>
                  <a:pt x="0" y="0"/>
                </a:lnTo>
                <a:close/>
              </a:path>
            </a:pathLst>
          </a:custGeom>
          <a:blipFill>
            <a:blip r:embed="rId10"/>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a:off x="0" y="0"/>
            <a:ext cx="5702041" cy="10287000"/>
          </a:xfrm>
          <a:custGeom>
            <a:avLst/>
            <a:gdLst/>
            <a:ahLst/>
            <a:cxnLst/>
            <a:rect l="l" t="t" r="r" b="b"/>
            <a:pathLst>
              <a:path w="5702041" h="10287000">
                <a:moveTo>
                  <a:pt x="0" y="0"/>
                </a:moveTo>
                <a:lnTo>
                  <a:pt x="5702041" y="0"/>
                </a:lnTo>
                <a:lnTo>
                  <a:pt x="5702041" y="10287000"/>
                </a:lnTo>
                <a:lnTo>
                  <a:pt x="0" y="10287000"/>
                </a:lnTo>
                <a:lnTo>
                  <a:pt x="0" y="0"/>
                </a:lnTo>
                <a:close/>
              </a:path>
            </a:pathLst>
          </a:custGeom>
          <a:blipFill>
            <a:blip r:embed="rId2"/>
            <a:stretch>
              <a:fillRect l="-68202" r="-103089"/>
            </a:stretch>
          </a:blipFill>
        </p:spPr>
      </p:sp>
      <p:sp>
        <p:nvSpPr>
          <p:cNvPr id="3" name="Freeform 3"/>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5702041" y="796737"/>
            <a:ext cx="12879297" cy="8693526"/>
          </a:xfrm>
          <a:custGeom>
            <a:avLst/>
            <a:gdLst/>
            <a:ahLst/>
            <a:cxnLst/>
            <a:rect l="l" t="t" r="r" b="b"/>
            <a:pathLst>
              <a:path w="12879297" h="8693526">
                <a:moveTo>
                  <a:pt x="0" y="0"/>
                </a:moveTo>
                <a:lnTo>
                  <a:pt x="12879297" y="0"/>
                </a:lnTo>
                <a:lnTo>
                  <a:pt x="12879297" y="8693526"/>
                </a:lnTo>
                <a:lnTo>
                  <a:pt x="0" y="8693526"/>
                </a:lnTo>
                <a:lnTo>
                  <a:pt x="0" y="0"/>
                </a:lnTo>
                <a:close/>
              </a:path>
            </a:pathLst>
          </a:custGeom>
          <a:blipFill>
            <a:blip r:embed="rId7"/>
            <a:stretch>
              <a:fillRect/>
            </a:stretch>
          </a:blipFill>
        </p:spPr>
      </p:sp>
      <p:sp>
        <p:nvSpPr>
          <p:cNvPr id="6" name="TextBox 6"/>
          <p:cNvSpPr txBox="1"/>
          <p:nvPr/>
        </p:nvSpPr>
        <p:spPr>
          <a:xfrm>
            <a:off x="6596489" y="2267077"/>
            <a:ext cx="11314798" cy="1011815"/>
          </a:xfrm>
          <a:prstGeom prst="rect">
            <a:avLst/>
          </a:prstGeom>
        </p:spPr>
        <p:txBody>
          <a:bodyPr lIns="0" tIns="0" rIns="0" bIns="0" rtlCol="0" anchor="t">
            <a:spAutoFit/>
          </a:bodyPr>
          <a:lstStyle/>
          <a:p>
            <a:pPr marL="0" lvl="0" indent="0" algn="ctr">
              <a:lnSpc>
                <a:spcPts val="9799"/>
              </a:lnSpc>
              <a:spcBef>
                <a:spcPct val="0"/>
              </a:spcBef>
            </a:pPr>
            <a:r>
              <a:rPr lang="en-US" dirty="0">
                <a:solidFill>
                  <a:srgbClr val="263C40"/>
                </a:solidFill>
                <a:latin typeface="Hussar Bold"/>
                <a:ea typeface="Hussar Bold"/>
                <a:cs typeface="Hussar Bold"/>
                <a:sym typeface="Hussar Bold"/>
              </a:rPr>
              <a:t>Pr</a:t>
            </a:r>
            <a:r>
              <a:rPr lang="en-US" b="1" u="none" strike="noStrike" dirty="0">
                <a:solidFill>
                  <a:srgbClr val="263C40"/>
                </a:solidFill>
                <a:latin typeface="Hussar Bold"/>
                <a:ea typeface="Hussar Bold"/>
                <a:cs typeface="Hussar Bold"/>
                <a:sym typeface="Hussar Bold"/>
              </a:rPr>
              <a:t>oblem Statement</a:t>
            </a:r>
          </a:p>
        </p:txBody>
      </p:sp>
      <p:sp>
        <p:nvSpPr>
          <p:cNvPr id="7" name="TextBox 7"/>
          <p:cNvSpPr txBox="1"/>
          <p:nvPr/>
        </p:nvSpPr>
        <p:spPr>
          <a:xfrm>
            <a:off x="7347890" y="3550951"/>
            <a:ext cx="9911410" cy="2976841"/>
          </a:xfrm>
          <a:prstGeom prst="rect">
            <a:avLst/>
          </a:prstGeom>
        </p:spPr>
        <p:txBody>
          <a:bodyPr lIns="0" tIns="0" rIns="0" bIns="0" rtlCol="0" anchor="t">
            <a:spAutoFit/>
          </a:bodyPr>
          <a:lstStyle/>
          <a:p>
            <a:pPr marL="607577" lvl="1" indent="-303789" algn="l">
              <a:lnSpc>
                <a:spcPts val="3939"/>
              </a:lnSpc>
              <a:spcBef>
                <a:spcPct val="0"/>
              </a:spcBef>
              <a:buFont typeface="Arial"/>
              <a:buChar char="•"/>
            </a:pPr>
            <a:r>
              <a:rPr lang="en-US" sz="1400" dirty="0">
                <a:solidFill>
                  <a:srgbClr val="263C40"/>
                </a:solidFill>
                <a:latin typeface="Poppins"/>
                <a:ea typeface="Poppins"/>
                <a:cs typeface="Poppins"/>
                <a:sym typeface="Poppins"/>
              </a:rPr>
              <a:t>Ra</a:t>
            </a:r>
            <a:r>
              <a:rPr lang="en-US" sz="1400" u="none" strike="noStrike" dirty="0">
                <a:solidFill>
                  <a:srgbClr val="263C40"/>
                </a:solidFill>
                <a:latin typeface="Poppins"/>
                <a:ea typeface="Poppins"/>
                <a:cs typeface="Poppins"/>
                <a:sym typeface="Poppins"/>
              </a:rPr>
              <a:t>pid urbanization has increased city-related issues</a:t>
            </a:r>
          </a:p>
          <a:p>
            <a:pPr marL="607577" lvl="1" indent="-303789" algn="l">
              <a:lnSpc>
                <a:spcPts val="3939"/>
              </a:lnSpc>
              <a:spcBef>
                <a:spcPct val="0"/>
              </a:spcBef>
              <a:buFont typeface="Arial"/>
              <a:buChar char="•"/>
            </a:pPr>
            <a:r>
              <a:rPr lang="en-US" sz="1400" u="none" strike="noStrike" dirty="0">
                <a:solidFill>
                  <a:srgbClr val="263C40"/>
                </a:solidFill>
                <a:latin typeface="Poppins"/>
                <a:ea typeface="Poppins"/>
                <a:cs typeface="Poppins"/>
                <a:sym typeface="Poppins"/>
              </a:rPr>
              <a:t>Citizens face difficulty in reporting problems efficiently</a:t>
            </a:r>
          </a:p>
          <a:p>
            <a:pPr marL="607577" lvl="1" indent="-303789" algn="l">
              <a:lnSpc>
                <a:spcPts val="3939"/>
              </a:lnSpc>
              <a:spcBef>
                <a:spcPct val="0"/>
              </a:spcBef>
              <a:buFont typeface="Arial"/>
              <a:buChar char="•"/>
            </a:pPr>
            <a:r>
              <a:rPr lang="en-US" sz="1400" u="none" strike="noStrike" dirty="0">
                <a:solidFill>
                  <a:srgbClr val="263C40"/>
                </a:solidFill>
                <a:latin typeface="Poppins"/>
                <a:ea typeface="Poppins"/>
                <a:cs typeface="Poppins"/>
                <a:sym typeface="Poppins"/>
              </a:rPr>
              <a:t>Lack of a centralized platform for complaint management</a:t>
            </a:r>
          </a:p>
          <a:p>
            <a:pPr marL="607577" lvl="1" indent="-303789" algn="l">
              <a:lnSpc>
                <a:spcPts val="3939"/>
              </a:lnSpc>
              <a:spcBef>
                <a:spcPct val="0"/>
              </a:spcBef>
              <a:buFont typeface="Arial"/>
              <a:buChar char="•"/>
            </a:pPr>
            <a:r>
              <a:rPr lang="en-US" sz="1400" u="none" strike="noStrike" dirty="0">
                <a:solidFill>
                  <a:srgbClr val="263C40"/>
                </a:solidFill>
                <a:latin typeface="Poppins"/>
                <a:ea typeface="Poppins"/>
                <a:cs typeface="Poppins"/>
                <a:sym typeface="Poppins"/>
              </a:rPr>
              <a:t>Delayed response from authorities</a:t>
            </a:r>
          </a:p>
          <a:p>
            <a:pPr marL="607577" lvl="1" indent="-303789" algn="l">
              <a:lnSpc>
                <a:spcPts val="3939"/>
              </a:lnSpc>
              <a:spcBef>
                <a:spcPct val="0"/>
              </a:spcBef>
              <a:buFont typeface="Arial"/>
              <a:buChar char="•"/>
            </a:pPr>
            <a:r>
              <a:rPr lang="en-US" sz="1400" u="none" strike="noStrike" dirty="0">
                <a:solidFill>
                  <a:srgbClr val="263C40"/>
                </a:solidFill>
                <a:latin typeface="Poppins"/>
                <a:ea typeface="Poppins"/>
                <a:cs typeface="Poppins"/>
                <a:sym typeface="Poppins"/>
              </a:rPr>
              <a:t>No proper tracking or transparency in issue resolution</a:t>
            </a:r>
          </a:p>
          <a:p>
            <a:pPr marL="0" lvl="0" indent="0" algn="l">
              <a:lnSpc>
                <a:spcPts val="3939"/>
              </a:lnSpc>
              <a:spcBef>
                <a:spcPct val="0"/>
              </a:spcBef>
            </a:pPr>
            <a:endParaRPr lang="en-US" sz="2814" u="none" strike="noStrike" dirty="0">
              <a:solidFill>
                <a:srgbClr val="263C40"/>
              </a:solidFill>
              <a:latin typeface="Poppins"/>
              <a:ea typeface="Poppins"/>
              <a:cs typeface="Poppins"/>
              <a:sym typeface="Poppins"/>
            </a:endParaRPr>
          </a:p>
        </p:txBody>
      </p:sp>
      <p:sp>
        <p:nvSpPr>
          <p:cNvPr id="8" name="Freeform 8"/>
          <p:cNvSpPr/>
          <p:nvPr/>
        </p:nvSpPr>
        <p:spPr>
          <a:xfrm>
            <a:off x="199304" y="0"/>
            <a:ext cx="1658793" cy="1711955"/>
          </a:xfrm>
          <a:custGeom>
            <a:avLst/>
            <a:gdLst/>
            <a:ahLst/>
            <a:cxnLst/>
            <a:rect l="l" t="t" r="r" b="b"/>
            <a:pathLst>
              <a:path w="1658793" h="1711955">
                <a:moveTo>
                  <a:pt x="0" y="0"/>
                </a:moveTo>
                <a:lnTo>
                  <a:pt x="1658792" y="0"/>
                </a:lnTo>
                <a:lnTo>
                  <a:pt x="1658792" y="1711955"/>
                </a:lnTo>
                <a:lnTo>
                  <a:pt x="0" y="1711955"/>
                </a:lnTo>
                <a:lnTo>
                  <a:pt x="0" y="0"/>
                </a:lnTo>
                <a:close/>
              </a:path>
            </a:pathLst>
          </a:custGeom>
          <a:blipFill>
            <a:blip r:embed="rId8"/>
            <a:stretch>
              <a:fillRect l="-1602" r="-1602"/>
            </a:stretch>
          </a:blipFill>
        </p:spPr>
      </p:sp>
      <p:sp>
        <p:nvSpPr>
          <p:cNvPr id="9" name="Freeform 9"/>
          <p:cNvSpPr/>
          <p:nvPr/>
        </p:nvSpPr>
        <p:spPr>
          <a:xfrm>
            <a:off x="9144000" y="-106948"/>
            <a:ext cx="1535159" cy="1535159"/>
          </a:xfrm>
          <a:custGeom>
            <a:avLst/>
            <a:gdLst/>
            <a:ahLst/>
            <a:cxnLst/>
            <a:rect l="l" t="t" r="r" b="b"/>
            <a:pathLst>
              <a:path w="1535159" h="1535159">
                <a:moveTo>
                  <a:pt x="0" y="0"/>
                </a:moveTo>
                <a:lnTo>
                  <a:pt x="1535159" y="0"/>
                </a:lnTo>
                <a:lnTo>
                  <a:pt x="1535159" y="1535159"/>
                </a:lnTo>
                <a:lnTo>
                  <a:pt x="0" y="1535159"/>
                </a:lnTo>
                <a:lnTo>
                  <a:pt x="0" y="0"/>
                </a:lnTo>
                <a:close/>
              </a:path>
            </a:pathLst>
          </a:custGeom>
          <a:blipFill>
            <a:blip r:embed="rId9"/>
            <a:stretch>
              <a:fillRect/>
            </a:stretch>
          </a:blipFill>
        </p:spPr>
      </p:sp>
      <p:sp>
        <p:nvSpPr>
          <p:cNvPr id="10" name="Freeform 10"/>
          <p:cNvSpPr/>
          <p:nvPr/>
        </p:nvSpPr>
        <p:spPr>
          <a:xfrm>
            <a:off x="16607312" y="19703"/>
            <a:ext cx="1303975" cy="1281858"/>
          </a:xfrm>
          <a:custGeom>
            <a:avLst/>
            <a:gdLst/>
            <a:ahLst/>
            <a:cxnLst/>
            <a:rect l="l" t="t" r="r" b="b"/>
            <a:pathLst>
              <a:path w="1303975" h="1281858">
                <a:moveTo>
                  <a:pt x="0" y="0"/>
                </a:moveTo>
                <a:lnTo>
                  <a:pt x="1303976" y="0"/>
                </a:lnTo>
                <a:lnTo>
                  <a:pt x="1303976" y="1281857"/>
                </a:lnTo>
                <a:lnTo>
                  <a:pt x="0" y="1281857"/>
                </a:lnTo>
                <a:lnTo>
                  <a:pt x="0" y="0"/>
                </a:lnTo>
                <a:close/>
              </a:path>
            </a:pathLst>
          </a:custGeom>
          <a:blipFill>
            <a:blip r:embed="rId10"/>
            <a:stretch>
              <a:fillRect l="-627" t="-414" b="-414"/>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704351" y="1028700"/>
            <a:ext cx="12879297" cy="8693526"/>
          </a:xfrm>
          <a:custGeom>
            <a:avLst/>
            <a:gdLst/>
            <a:ahLst/>
            <a:cxnLst/>
            <a:rect l="l" t="t" r="r" b="b"/>
            <a:pathLst>
              <a:path w="12879297" h="8693526">
                <a:moveTo>
                  <a:pt x="0" y="0"/>
                </a:moveTo>
                <a:lnTo>
                  <a:pt x="12879298" y="0"/>
                </a:lnTo>
                <a:lnTo>
                  <a:pt x="12879298" y="8693526"/>
                </a:lnTo>
                <a:lnTo>
                  <a:pt x="0" y="8693526"/>
                </a:lnTo>
                <a:lnTo>
                  <a:pt x="0" y="0"/>
                </a:lnTo>
                <a:close/>
              </a:path>
            </a:pathLst>
          </a:custGeom>
          <a:blipFill>
            <a:blip r:embed="rId6"/>
            <a:stretch>
              <a:fillRect/>
            </a:stretch>
          </a:blipFill>
        </p:spPr>
      </p:sp>
      <p:sp>
        <p:nvSpPr>
          <p:cNvPr id="5" name="TextBox 5"/>
          <p:cNvSpPr txBox="1"/>
          <p:nvPr/>
        </p:nvSpPr>
        <p:spPr>
          <a:xfrm>
            <a:off x="3657600" y="4700492"/>
            <a:ext cx="11513669" cy="3051669"/>
          </a:xfrm>
          <a:prstGeom prst="rect">
            <a:avLst/>
          </a:prstGeom>
        </p:spPr>
        <p:txBody>
          <a:bodyPr lIns="0" tIns="0" rIns="0" bIns="0" rtlCol="0" anchor="t">
            <a:spAutoFit/>
          </a:bodyPr>
          <a:lstStyle/>
          <a:p>
            <a:pPr marL="614252" lvl="1" indent="-307126" algn="l">
              <a:lnSpc>
                <a:spcPts val="3983"/>
              </a:lnSpc>
              <a:buFont typeface="Arial"/>
              <a:buChar char="•"/>
            </a:pPr>
            <a:r>
              <a:rPr lang="en-US" sz="1200" dirty="0">
                <a:solidFill>
                  <a:srgbClr val="263C40"/>
                </a:solidFill>
                <a:latin typeface="Poppins"/>
                <a:ea typeface="Poppins"/>
                <a:cs typeface="Poppins"/>
                <a:sym typeface="Poppins"/>
              </a:rPr>
              <a:t>A centralized digital platform for managing urban issues</a:t>
            </a:r>
          </a:p>
          <a:p>
            <a:pPr marL="614252" lvl="1" indent="-307126" algn="l">
              <a:lnSpc>
                <a:spcPts val="3983"/>
              </a:lnSpc>
              <a:buFont typeface="Arial"/>
              <a:buChar char="•"/>
            </a:pPr>
            <a:r>
              <a:rPr lang="en-US" sz="1200" dirty="0">
                <a:solidFill>
                  <a:srgbClr val="263C40"/>
                </a:solidFill>
                <a:latin typeface="Poppins"/>
                <a:ea typeface="Poppins"/>
                <a:cs typeface="Poppins"/>
                <a:sym typeface="Poppins"/>
              </a:rPr>
              <a:t>Enables citizens to report problems easily</a:t>
            </a:r>
          </a:p>
          <a:p>
            <a:pPr marL="614252" lvl="1" indent="-307126" algn="l">
              <a:lnSpc>
                <a:spcPts val="3983"/>
              </a:lnSpc>
              <a:spcBef>
                <a:spcPct val="0"/>
              </a:spcBef>
              <a:buFont typeface="Arial"/>
              <a:buChar char="•"/>
            </a:pPr>
            <a:r>
              <a:rPr lang="en-US" sz="1200" dirty="0">
                <a:solidFill>
                  <a:srgbClr val="263C40"/>
                </a:solidFill>
                <a:latin typeface="Poppins"/>
                <a:ea typeface="Poppins"/>
                <a:cs typeface="Poppins"/>
                <a:sym typeface="Poppins"/>
              </a:rPr>
              <a:t>Provides </a:t>
            </a:r>
            <a:r>
              <a:rPr lang="en-US" sz="1200" u="none" strike="noStrike" dirty="0">
                <a:solidFill>
                  <a:srgbClr val="263C40"/>
                </a:solidFill>
                <a:latin typeface="Poppins"/>
                <a:ea typeface="Poppins"/>
                <a:cs typeface="Poppins"/>
                <a:sym typeface="Poppins"/>
              </a:rPr>
              <a:t>real-time tracking of complaints</a:t>
            </a:r>
          </a:p>
          <a:p>
            <a:pPr marL="614252" lvl="1" indent="-307126" algn="l">
              <a:lnSpc>
                <a:spcPts val="3983"/>
              </a:lnSpc>
              <a:spcBef>
                <a:spcPct val="0"/>
              </a:spcBef>
              <a:buFont typeface="Arial"/>
              <a:buChar char="•"/>
            </a:pPr>
            <a:r>
              <a:rPr lang="en-US" sz="1200" u="none" strike="noStrike" dirty="0">
                <a:solidFill>
                  <a:srgbClr val="263C40"/>
                </a:solidFill>
                <a:latin typeface="Poppins"/>
                <a:ea typeface="Poppins"/>
                <a:cs typeface="Poppins"/>
                <a:sym typeface="Poppins"/>
              </a:rPr>
              <a:t>Connects users directly with authorities</a:t>
            </a:r>
          </a:p>
          <a:p>
            <a:pPr marL="614252" lvl="1" indent="-307126" algn="l">
              <a:lnSpc>
                <a:spcPts val="3983"/>
              </a:lnSpc>
              <a:spcBef>
                <a:spcPct val="0"/>
              </a:spcBef>
              <a:buFont typeface="Arial"/>
              <a:buChar char="•"/>
            </a:pPr>
            <a:r>
              <a:rPr lang="en-US" sz="1200" u="none" strike="noStrike" dirty="0">
                <a:solidFill>
                  <a:srgbClr val="263C40"/>
                </a:solidFill>
                <a:latin typeface="Poppins"/>
                <a:ea typeface="Poppins"/>
                <a:cs typeface="Poppins"/>
                <a:sym typeface="Poppins"/>
              </a:rPr>
              <a:t>Ensures faster and transparent resolution</a:t>
            </a:r>
          </a:p>
          <a:p>
            <a:pPr marL="0" lvl="0" indent="0" algn="l">
              <a:lnSpc>
                <a:spcPts val="3983"/>
              </a:lnSpc>
              <a:spcBef>
                <a:spcPct val="0"/>
              </a:spcBef>
            </a:pPr>
            <a:endParaRPr lang="en-US" sz="2845" u="none" strike="noStrike" dirty="0">
              <a:solidFill>
                <a:srgbClr val="263C40"/>
              </a:solidFill>
              <a:latin typeface="Poppins"/>
              <a:ea typeface="Poppins"/>
              <a:cs typeface="Poppins"/>
              <a:sym typeface="Poppins"/>
            </a:endParaRPr>
          </a:p>
        </p:txBody>
      </p:sp>
      <p:sp>
        <p:nvSpPr>
          <p:cNvPr id="6" name="TextBox 6"/>
          <p:cNvSpPr txBox="1"/>
          <p:nvPr/>
        </p:nvSpPr>
        <p:spPr>
          <a:xfrm>
            <a:off x="4085410" y="2917016"/>
            <a:ext cx="10117180" cy="996427"/>
          </a:xfrm>
          <a:prstGeom prst="rect">
            <a:avLst/>
          </a:prstGeom>
        </p:spPr>
        <p:txBody>
          <a:bodyPr lIns="0" tIns="0" rIns="0" bIns="0" rtlCol="0" anchor="t">
            <a:spAutoFit/>
          </a:bodyPr>
          <a:lstStyle/>
          <a:p>
            <a:pPr marL="0" lvl="0" indent="0" algn="ctr">
              <a:lnSpc>
                <a:spcPts val="9799"/>
              </a:lnSpc>
              <a:spcBef>
                <a:spcPct val="0"/>
              </a:spcBef>
            </a:pPr>
            <a:r>
              <a:rPr lang="en-US" sz="1400" dirty="0">
                <a:solidFill>
                  <a:srgbClr val="263C40"/>
                </a:solidFill>
                <a:latin typeface="Hussar Bold"/>
                <a:ea typeface="Hussar Bold"/>
                <a:cs typeface="Hussar Bold"/>
                <a:sym typeface="Hussar Bold"/>
              </a:rPr>
              <a:t>Propos</a:t>
            </a:r>
            <a:r>
              <a:rPr lang="en-US" sz="1400" b="1" u="none" strike="noStrike" dirty="0">
                <a:solidFill>
                  <a:srgbClr val="263C40"/>
                </a:solidFill>
                <a:latin typeface="Hussar Bold"/>
                <a:ea typeface="Hussar Bold"/>
                <a:cs typeface="Hussar Bold"/>
                <a:sym typeface="Hussar Bold"/>
              </a:rPr>
              <a:t>ed Solution</a:t>
            </a:r>
          </a:p>
        </p:txBody>
      </p:sp>
      <p:sp>
        <p:nvSpPr>
          <p:cNvPr id="7" name="Freeform 7"/>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7"/>
            <a:stretch>
              <a:fillRect l="-615" t="-15707" b="-15707"/>
            </a:stretch>
          </a:blipFill>
        </p:spPr>
      </p:sp>
      <p:sp>
        <p:nvSpPr>
          <p:cNvPr id="8" name="Freeform 8"/>
          <p:cNvSpPr/>
          <p:nvPr/>
        </p:nvSpPr>
        <p:spPr>
          <a:xfrm>
            <a:off x="8607349" y="-21119"/>
            <a:ext cx="1828800" cy="1545587"/>
          </a:xfrm>
          <a:custGeom>
            <a:avLst/>
            <a:gdLst/>
            <a:ahLst/>
            <a:cxnLst/>
            <a:rect l="l" t="t" r="r" b="b"/>
            <a:pathLst>
              <a:path w="1828800" h="1545587">
                <a:moveTo>
                  <a:pt x="0" y="0"/>
                </a:moveTo>
                <a:lnTo>
                  <a:pt x="1828800" y="0"/>
                </a:lnTo>
                <a:lnTo>
                  <a:pt x="1828800" y="1545586"/>
                </a:lnTo>
                <a:lnTo>
                  <a:pt x="0" y="1545586"/>
                </a:lnTo>
                <a:lnTo>
                  <a:pt x="0" y="0"/>
                </a:lnTo>
                <a:close/>
              </a:path>
            </a:pathLst>
          </a:custGeom>
          <a:blipFill>
            <a:blip r:embed="rId8"/>
            <a:stretch>
              <a:fillRect t="-4850" b="-13473"/>
            </a:stretch>
          </a:blipFill>
        </p:spPr>
      </p:sp>
      <p:sp>
        <p:nvSpPr>
          <p:cNvPr id="9" name="Freeform 9"/>
          <p:cNvSpPr/>
          <p:nvPr/>
        </p:nvSpPr>
        <p:spPr>
          <a:xfrm>
            <a:off x="16506439" y="97451"/>
            <a:ext cx="1505722" cy="1480182"/>
          </a:xfrm>
          <a:custGeom>
            <a:avLst/>
            <a:gdLst/>
            <a:ahLst/>
            <a:cxnLst/>
            <a:rect l="l" t="t" r="r" b="b"/>
            <a:pathLst>
              <a:path w="1505722" h="1480182">
                <a:moveTo>
                  <a:pt x="0" y="0"/>
                </a:moveTo>
                <a:lnTo>
                  <a:pt x="1505722" y="0"/>
                </a:lnTo>
                <a:lnTo>
                  <a:pt x="1505722" y="1480182"/>
                </a:lnTo>
                <a:lnTo>
                  <a:pt x="0" y="1480182"/>
                </a:lnTo>
                <a:lnTo>
                  <a:pt x="0" y="0"/>
                </a:lnTo>
                <a:close/>
              </a:path>
            </a:pathLst>
          </a:custGeom>
          <a:blipFill>
            <a:blip r:embed="rId9"/>
            <a:stretch>
              <a:fillRect l="-627" t="-414" b="-414"/>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073948" y="1113252"/>
            <a:ext cx="8697365" cy="8686493"/>
          </a:xfrm>
          <a:custGeom>
            <a:avLst/>
            <a:gdLst/>
            <a:ahLst/>
            <a:cxnLst/>
            <a:rect l="l" t="t" r="r" b="b"/>
            <a:pathLst>
              <a:path w="8697365" h="8686493">
                <a:moveTo>
                  <a:pt x="0" y="0"/>
                </a:moveTo>
                <a:lnTo>
                  <a:pt x="8697364" y="0"/>
                </a:lnTo>
                <a:lnTo>
                  <a:pt x="8697364" y="8686493"/>
                </a:lnTo>
                <a:lnTo>
                  <a:pt x="0" y="8686493"/>
                </a:lnTo>
                <a:lnTo>
                  <a:pt x="0" y="0"/>
                </a:lnTo>
                <a:close/>
              </a:path>
            </a:pathLst>
          </a:custGeom>
          <a:blipFill>
            <a:blip r:embed="rId6"/>
            <a:stretch>
              <a:fillRect/>
            </a:stretch>
          </a:blipFill>
        </p:spPr>
      </p:sp>
      <p:sp>
        <p:nvSpPr>
          <p:cNvPr id="5" name="Freeform 5"/>
          <p:cNvSpPr/>
          <p:nvPr/>
        </p:nvSpPr>
        <p:spPr>
          <a:xfrm>
            <a:off x="1571798" y="2190095"/>
            <a:ext cx="6024773" cy="5584211"/>
          </a:xfrm>
          <a:custGeom>
            <a:avLst/>
            <a:gdLst/>
            <a:ahLst/>
            <a:cxnLst/>
            <a:rect l="l" t="t" r="r" b="b"/>
            <a:pathLst>
              <a:path w="6024773" h="5584211">
                <a:moveTo>
                  <a:pt x="0" y="0"/>
                </a:moveTo>
                <a:lnTo>
                  <a:pt x="6024773" y="0"/>
                </a:lnTo>
                <a:lnTo>
                  <a:pt x="6024773" y="5584211"/>
                </a:lnTo>
                <a:lnTo>
                  <a:pt x="0" y="5584211"/>
                </a:lnTo>
                <a:lnTo>
                  <a:pt x="0" y="0"/>
                </a:lnTo>
                <a:close/>
              </a:path>
            </a:pathLst>
          </a:custGeom>
          <a:blipFill>
            <a:blip r:embed="rId7"/>
            <a:stretch>
              <a:fillRect b="-7889"/>
            </a:stretch>
          </a:blipFill>
        </p:spPr>
      </p:sp>
      <p:sp>
        <p:nvSpPr>
          <p:cNvPr id="6" name="TextBox 6"/>
          <p:cNvSpPr txBox="1"/>
          <p:nvPr/>
        </p:nvSpPr>
        <p:spPr>
          <a:xfrm>
            <a:off x="9586984" y="2649640"/>
            <a:ext cx="4843167" cy="2965171"/>
          </a:xfrm>
          <a:prstGeom prst="rect">
            <a:avLst/>
          </a:prstGeom>
        </p:spPr>
        <p:txBody>
          <a:bodyPr lIns="0" tIns="0" rIns="0" bIns="0" rtlCol="0" anchor="t">
            <a:spAutoFit/>
          </a:bodyPr>
          <a:lstStyle/>
          <a:p>
            <a:pPr marL="0" lvl="0" indent="0" algn="ctr">
              <a:lnSpc>
                <a:spcPts val="7802"/>
              </a:lnSpc>
              <a:spcBef>
                <a:spcPct val="0"/>
              </a:spcBef>
            </a:pPr>
            <a:r>
              <a:rPr lang="en-US" sz="5573" b="1" u="none" strike="noStrike" dirty="0">
                <a:solidFill>
                  <a:srgbClr val="263C40"/>
                </a:solidFill>
                <a:latin typeface="Hussar Bold"/>
                <a:ea typeface="Hussar Bold"/>
                <a:cs typeface="Hussar Bold"/>
                <a:sym typeface="Hussar Bold"/>
              </a:rPr>
              <a:t> </a:t>
            </a:r>
            <a:r>
              <a:rPr lang="en-US" sz="1400" b="1" u="none" strike="noStrike" dirty="0">
                <a:solidFill>
                  <a:srgbClr val="263C40"/>
                </a:solidFill>
                <a:latin typeface="Hussar Bold"/>
                <a:ea typeface="Hussar Bold"/>
                <a:cs typeface="Hussar Bold"/>
                <a:sym typeface="Hussar Bold"/>
              </a:rPr>
              <a:t>System Overview</a:t>
            </a:r>
          </a:p>
          <a:p>
            <a:pPr marL="0" lvl="0" indent="0" algn="ctr">
              <a:lnSpc>
                <a:spcPts val="7802"/>
              </a:lnSpc>
              <a:spcBef>
                <a:spcPct val="0"/>
              </a:spcBef>
            </a:pPr>
            <a:endParaRPr lang="en-US" sz="5573" b="1" u="none" strike="noStrike" dirty="0">
              <a:solidFill>
                <a:srgbClr val="263C40"/>
              </a:solidFill>
              <a:latin typeface="Hussar Bold"/>
              <a:ea typeface="Hussar Bold"/>
              <a:cs typeface="Hussar Bold"/>
              <a:sym typeface="Hussar Bold"/>
            </a:endParaRPr>
          </a:p>
          <a:p>
            <a:pPr marL="0" lvl="0" indent="0" algn="ctr">
              <a:lnSpc>
                <a:spcPts val="7802"/>
              </a:lnSpc>
              <a:spcBef>
                <a:spcPct val="0"/>
              </a:spcBef>
            </a:pPr>
            <a:endParaRPr lang="en-US" sz="5573" b="1" u="none" strike="noStrike" dirty="0">
              <a:solidFill>
                <a:srgbClr val="263C40"/>
              </a:solidFill>
              <a:latin typeface="Hussar Bold"/>
              <a:ea typeface="Hussar Bold"/>
              <a:cs typeface="Hussar Bold"/>
              <a:sym typeface="Hussar Bold"/>
            </a:endParaRPr>
          </a:p>
        </p:txBody>
      </p:sp>
      <p:sp>
        <p:nvSpPr>
          <p:cNvPr id="7" name="TextBox 7"/>
          <p:cNvSpPr txBox="1"/>
          <p:nvPr/>
        </p:nvSpPr>
        <p:spPr>
          <a:xfrm>
            <a:off x="9473065" y="4437155"/>
            <a:ext cx="5899130" cy="2974532"/>
          </a:xfrm>
          <a:prstGeom prst="rect">
            <a:avLst/>
          </a:prstGeom>
        </p:spPr>
        <p:txBody>
          <a:bodyPr lIns="0" tIns="0" rIns="0" bIns="0" rtlCol="0" anchor="t">
            <a:spAutoFit/>
          </a:bodyPr>
          <a:lstStyle/>
          <a:p>
            <a:pPr marL="593857" lvl="1" indent="-296928" algn="l">
              <a:lnSpc>
                <a:spcPts val="3850"/>
              </a:lnSpc>
              <a:buFont typeface="Arial"/>
              <a:buChar char="•"/>
            </a:pPr>
            <a:r>
              <a:rPr lang="en-US" sz="1200" dirty="0">
                <a:solidFill>
                  <a:srgbClr val="263C40"/>
                </a:solidFill>
                <a:latin typeface="Poppins"/>
                <a:ea typeface="Poppins"/>
                <a:cs typeface="Poppins"/>
                <a:sym typeface="Poppins"/>
              </a:rPr>
              <a:t>User-friendly web/mobile interface</a:t>
            </a:r>
          </a:p>
          <a:p>
            <a:pPr marL="593857" lvl="1" indent="-296928" algn="l">
              <a:lnSpc>
                <a:spcPts val="3850"/>
              </a:lnSpc>
              <a:buFont typeface="Arial"/>
              <a:buChar char="•"/>
            </a:pPr>
            <a:r>
              <a:rPr lang="en-US" sz="1200" dirty="0">
                <a:solidFill>
                  <a:srgbClr val="263C40"/>
                </a:solidFill>
                <a:latin typeface="Poppins"/>
                <a:ea typeface="Poppins"/>
                <a:cs typeface="Poppins"/>
                <a:sym typeface="Poppins"/>
              </a:rPr>
              <a:t>Admin panel for authorities</a:t>
            </a:r>
          </a:p>
          <a:p>
            <a:pPr marL="593857" lvl="1" indent="-296928" algn="l">
              <a:lnSpc>
                <a:spcPts val="3850"/>
              </a:lnSpc>
              <a:buFont typeface="Arial"/>
              <a:buChar char="•"/>
            </a:pPr>
            <a:r>
              <a:rPr lang="en-US" sz="1200" dirty="0">
                <a:solidFill>
                  <a:srgbClr val="263C40"/>
                </a:solidFill>
                <a:latin typeface="Poppins"/>
                <a:ea typeface="Poppins"/>
                <a:cs typeface="Poppins"/>
                <a:sym typeface="Poppins"/>
              </a:rPr>
              <a:t>Database to store complaints</a:t>
            </a:r>
          </a:p>
          <a:p>
            <a:pPr marL="593857" lvl="1" indent="-296928" algn="l">
              <a:lnSpc>
                <a:spcPts val="3850"/>
              </a:lnSpc>
              <a:buFont typeface="Arial"/>
              <a:buChar char="•"/>
            </a:pPr>
            <a:r>
              <a:rPr lang="en-US" sz="1200" dirty="0">
                <a:solidFill>
                  <a:srgbClr val="263C40"/>
                </a:solidFill>
                <a:latin typeface="Poppins"/>
                <a:ea typeface="Poppins"/>
                <a:cs typeface="Poppins"/>
                <a:sym typeface="Poppins"/>
              </a:rPr>
              <a:t>Notification system for updates</a:t>
            </a:r>
          </a:p>
          <a:p>
            <a:pPr marL="593857" lvl="1" indent="-296928" algn="l">
              <a:lnSpc>
                <a:spcPts val="3850"/>
              </a:lnSpc>
              <a:buFont typeface="Arial"/>
              <a:buChar char="•"/>
            </a:pPr>
            <a:r>
              <a:rPr lang="en-US" sz="1200" dirty="0">
                <a:solidFill>
                  <a:srgbClr val="263C40"/>
                </a:solidFill>
                <a:latin typeface="Poppins"/>
                <a:ea typeface="Poppins"/>
                <a:cs typeface="Poppins"/>
                <a:sym typeface="Poppins"/>
              </a:rPr>
              <a:t>Works as a bridge between citizens &amp; government</a:t>
            </a:r>
          </a:p>
          <a:p>
            <a:pPr marL="0" lvl="0" indent="0" algn="l">
              <a:lnSpc>
                <a:spcPts val="3850"/>
              </a:lnSpc>
              <a:spcBef>
                <a:spcPct val="0"/>
              </a:spcBef>
            </a:pPr>
            <a:endParaRPr lang="en-US" sz="2750" dirty="0">
              <a:solidFill>
                <a:srgbClr val="263C40"/>
              </a:solidFill>
              <a:latin typeface="Poppins"/>
              <a:ea typeface="Poppins"/>
              <a:cs typeface="Poppins"/>
              <a:sym typeface="Poppins"/>
            </a:endParaRPr>
          </a:p>
        </p:txBody>
      </p:sp>
      <p:sp>
        <p:nvSpPr>
          <p:cNvPr id="8" name="Freeform 8"/>
          <p:cNvSpPr/>
          <p:nvPr/>
        </p:nvSpPr>
        <p:spPr>
          <a:xfrm>
            <a:off x="372242" y="-134322"/>
            <a:ext cx="1658793" cy="1711955"/>
          </a:xfrm>
          <a:custGeom>
            <a:avLst/>
            <a:gdLst/>
            <a:ahLst/>
            <a:cxnLst/>
            <a:rect l="l" t="t" r="r" b="b"/>
            <a:pathLst>
              <a:path w="1658793" h="1711955">
                <a:moveTo>
                  <a:pt x="0" y="0"/>
                </a:moveTo>
                <a:lnTo>
                  <a:pt x="1658793" y="0"/>
                </a:lnTo>
                <a:lnTo>
                  <a:pt x="1658793" y="1711955"/>
                </a:lnTo>
                <a:lnTo>
                  <a:pt x="0" y="1711955"/>
                </a:lnTo>
                <a:lnTo>
                  <a:pt x="0" y="0"/>
                </a:lnTo>
                <a:close/>
              </a:path>
            </a:pathLst>
          </a:custGeom>
          <a:blipFill>
            <a:blip r:embed="rId8"/>
            <a:stretch>
              <a:fillRect l="-1602" r="-1602"/>
            </a:stretch>
          </a:blipFill>
        </p:spPr>
      </p:sp>
      <p:sp>
        <p:nvSpPr>
          <p:cNvPr id="9" name="Freeform 9"/>
          <p:cNvSpPr/>
          <p:nvPr/>
        </p:nvSpPr>
        <p:spPr>
          <a:xfrm>
            <a:off x="8073948" y="-134322"/>
            <a:ext cx="1513036" cy="1513036"/>
          </a:xfrm>
          <a:custGeom>
            <a:avLst/>
            <a:gdLst/>
            <a:ahLst/>
            <a:cxnLst/>
            <a:rect l="l" t="t" r="r" b="b"/>
            <a:pathLst>
              <a:path w="1513036" h="1513036">
                <a:moveTo>
                  <a:pt x="0" y="0"/>
                </a:moveTo>
                <a:lnTo>
                  <a:pt x="1513036" y="0"/>
                </a:lnTo>
                <a:lnTo>
                  <a:pt x="1513036" y="1513036"/>
                </a:lnTo>
                <a:lnTo>
                  <a:pt x="0" y="1513036"/>
                </a:lnTo>
                <a:lnTo>
                  <a:pt x="0" y="0"/>
                </a:lnTo>
                <a:close/>
              </a:path>
            </a:pathLst>
          </a:custGeom>
          <a:blipFill>
            <a:blip r:embed="rId9"/>
            <a:stretch>
              <a:fillRect/>
            </a:stretch>
          </a:blipFill>
        </p:spPr>
      </p:sp>
      <p:sp>
        <p:nvSpPr>
          <p:cNvPr id="10" name="Freeform 10"/>
          <p:cNvSpPr/>
          <p:nvPr/>
        </p:nvSpPr>
        <p:spPr>
          <a:xfrm>
            <a:off x="16607312" y="96856"/>
            <a:ext cx="1303975" cy="1281858"/>
          </a:xfrm>
          <a:custGeom>
            <a:avLst/>
            <a:gdLst/>
            <a:ahLst/>
            <a:cxnLst/>
            <a:rect l="l" t="t" r="r" b="b"/>
            <a:pathLst>
              <a:path w="1303975" h="1281858">
                <a:moveTo>
                  <a:pt x="0" y="0"/>
                </a:moveTo>
                <a:lnTo>
                  <a:pt x="1303976" y="0"/>
                </a:lnTo>
                <a:lnTo>
                  <a:pt x="1303976" y="1281858"/>
                </a:lnTo>
                <a:lnTo>
                  <a:pt x="0" y="1281858"/>
                </a:lnTo>
                <a:lnTo>
                  <a:pt x="0" y="0"/>
                </a:lnTo>
                <a:close/>
              </a:path>
            </a:pathLst>
          </a:custGeom>
          <a:blipFill>
            <a:blip r:embed="rId10"/>
            <a:stretch>
              <a:fillRect l="-627" t="-414" b="-414"/>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704351" y="1028700"/>
            <a:ext cx="12879297" cy="8693526"/>
          </a:xfrm>
          <a:custGeom>
            <a:avLst/>
            <a:gdLst/>
            <a:ahLst/>
            <a:cxnLst/>
            <a:rect l="l" t="t" r="r" b="b"/>
            <a:pathLst>
              <a:path w="12879297" h="8693526">
                <a:moveTo>
                  <a:pt x="0" y="0"/>
                </a:moveTo>
                <a:lnTo>
                  <a:pt x="12879298" y="0"/>
                </a:lnTo>
                <a:lnTo>
                  <a:pt x="12879298" y="8693526"/>
                </a:lnTo>
                <a:lnTo>
                  <a:pt x="0" y="8693526"/>
                </a:lnTo>
                <a:lnTo>
                  <a:pt x="0" y="0"/>
                </a:lnTo>
                <a:close/>
              </a:path>
            </a:pathLst>
          </a:custGeom>
          <a:blipFill>
            <a:blip r:embed="rId6"/>
            <a:stretch>
              <a:fillRect/>
            </a:stretch>
          </a:blipFill>
        </p:spPr>
      </p:sp>
      <p:sp>
        <p:nvSpPr>
          <p:cNvPr id="5" name="TextBox 5"/>
          <p:cNvSpPr txBox="1"/>
          <p:nvPr/>
        </p:nvSpPr>
        <p:spPr>
          <a:xfrm>
            <a:off x="2338020" y="2417144"/>
            <a:ext cx="12054539" cy="996427"/>
          </a:xfrm>
          <a:prstGeom prst="rect">
            <a:avLst/>
          </a:prstGeom>
        </p:spPr>
        <p:txBody>
          <a:bodyPr lIns="0" tIns="0" rIns="0" bIns="0" rtlCol="0" anchor="t">
            <a:spAutoFit/>
          </a:bodyPr>
          <a:lstStyle/>
          <a:p>
            <a:pPr marL="0" lvl="0" indent="0" algn="ctr">
              <a:lnSpc>
                <a:spcPts val="9799"/>
              </a:lnSpc>
              <a:spcBef>
                <a:spcPct val="0"/>
              </a:spcBef>
            </a:pPr>
            <a:r>
              <a:rPr lang="en-US" sz="1400" dirty="0">
                <a:solidFill>
                  <a:srgbClr val="263C40"/>
                </a:solidFill>
                <a:latin typeface="Hussar Bold"/>
                <a:ea typeface="Hussar Bold"/>
                <a:cs typeface="Hussar Bold"/>
                <a:sym typeface="Hussar Bold"/>
              </a:rPr>
              <a:t>K</a:t>
            </a:r>
            <a:r>
              <a:rPr lang="en-US" sz="1400" b="1" u="none" strike="noStrike" dirty="0">
                <a:solidFill>
                  <a:srgbClr val="263C40"/>
                </a:solidFill>
                <a:latin typeface="Hussar Bold"/>
                <a:ea typeface="Hussar Bold"/>
                <a:cs typeface="Hussar Bold"/>
                <a:sym typeface="Hussar Bold"/>
              </a:rPr>
              <a:t>ey Features</a:t>
            </a:r>
          </a:p>
        </p:txBody>
      </p:sp>
      <p:sp>
        <p:nvSpPr>
          <p:cNvPr id="6" name="TextBox 6"/>
          <p:cNvSpPr txBox="1"/>
          <p:nvPr/>
        </p:nvSpPr>
        <p:spPr>
          <a:xfrm>
            <a:off x="4546152" y="3695426"/>
            <a:ext cx="11697087" cy="7141892"/>
          </a:xfrm>
          <a:prstGeom prst="rect">
            <a:avLst/>
          </a:prstGeom>
        </p:spPr>
        <p:txBody>
          <a:bodyPr lIns="0" tIns="0" rIns="0" bIns="0" rtlCol="0" anchor="t">
            <a:spAutoFit/>
          </a:bodyPr>
          <a:lstStyle/>
          <a:p>
            <a:pPr algn="l">
              <a:lnSpc>
                <a:spcPts val="4333"/>
              </a:lnSpc>
            </a:pPr>
            <a:r>
              <a:rPr lang="en-US" sz="1200" dirty="0">
                <a:solidFill>
                  <a:srgbClr val="263C40"/>
                </a:solidFill>
                <a:latin typeface="Poppins"/>
                <a:ea typeface="Poppins"/>
                <a:cs typeface="Poppins"/>
                <a:sym typeface="Poppins"/>
              </a:rPr>
              <a:t>✅ User Friendly Interface</a:t>
            </a:r>
          </a:p>
          <a:p>
            <a:pPr algn="l">
              <a:lnSpc>
                <a:spcPts val="4333"/>
              </a:lnSpc>
            </a:pPr>
            <a:r>
              <a:rPr lang="en-US" sz="1200" dirty="0">
                <a:solidFill>
                  <a:srgbClr val="263C40"/>
                </a:solidFill>
                <a:latin typeface="Poppins"/>
                <a:ea typeface="Poppins"/>
                <a:cs typeface="Poppins"/>
                <a:sym typeface="Poppins"/>
              </a:rPr>
              <a:t>✅ Ticket </a:t>
            </a:r>
            <a:r>
              <a:rPr lang="en-US" sz="1200" dirty="0" err="1">
                <a:solidFill>
                  <a:srgbClr val="263C40"/>
                </a:solidFill>
                <a:latin typeface="Poppins"/>
                <a:ea typeface="Poppins"/>
                <a:cs typeface="Poppins"/>
                <a:sym typeface="Poppins"/>
              </a:rPr>
              <a:t>Generatiion</a:t>
            </a:r>
            <a:r>
              <a:rPr lang="en-US" sz="1200" dirty="0">
                <a:solidFill>
                  <a:srgbClr val="263C40"/>
                </a:solidFill>
                <a:latin typeface="Poppins"/>
                <a:ea typeface="Poppins"/>
                <a:cs typeface="Poppins"/>
                <a:sym typeface="Poppins"/>
              </a:rPr>
              <a:t> System</a:t>
            </a:r>
          </a:p>
          <a:p>
            <a:pPr algn="l">
              <a:lnSpc>
                <a:spcPts val="4333"/>
              </a:lnSpc>
            </a:pPr>
            <a:r>
              <a:rPr lang="en-US" sz="1200" dirty="0">
                <a:solidFill>
                  <a:srgbClr val="263C40"/>
                </a:solidFill>
                <a:latin typeface="Poppins"/>
                <a:ea typeface="Poppins"/>
                <a:cs typeface="Poppins"/>
                <a:sym typeface="Poppins"/>
              </a:rPr>
              <a:t>✅ Location Based Reporting</a:t>
            </a:r>
          </a:p>
          <a:p>
            <a:pPr algn="l">
              <a:lnSpc>
                <a:spcPts val="4333"/>
              </a:lnSpc>
            </a:pPr>
            <a:r>
              <a:rPr lang="en-US" sz="1200" dirty="0">
                <a:solidFill>
                  <a:srgbClr val="263C40"/>
                </a:solidFill>
                <a:latin typeface="Poppins"/>
                <a:ea typeface="Poppins"/>
                <a:cs typeface="Poppins"/>
                <a:sym typeface="Poppins"/>
              </a:rPr>
              <a:t>✅ Real Time Status Tracking</a:t>
            </a:r>
          </a:p>
          <a:p>
            <a:pPr algn="l">
              <a:lnSpc>
                <a:spcPts val="4333"/>
              </a:lnSpc>
            </a:pPr>
            <a:r>
              <a:rPr lang="en-US" sz="1200" dirty="0">
                <a:solidFill>
                  <a:srgbClr val="263C40"/>
                </a:solidFill>
                <a:latin typeface="Poppins"/>
                <a:ea typeface="Poppins"/>
                <a:cs typeface="Poppins"/>
                <a:sym typeface="Poppins"/>
              </a:rPr>
              <a:t>✅ Image Upload Support</a:t>
            </a:r>
          </a:p>
          <a:p>
            <a:pPr algn="l">
              <a:lnSpc>
                <a:spcPts val="4333"/>
              </a:lnSpc>
            </a:pPr>
            <a:r>
              <a:rPr lang="en-US" sz="1200" dirty="0">
                <a:solidFill>
                  <a:srgbClr val="263C40"/>
                </a:solidFill>
                <a:latin typeface="Poppins"/>
                <a:ea typeface="Poppins"/>
                <a:cs typeface="Poppins"/>
                <a:sym typeface="Poppins"/>
              </a:rPr>
              <a:t>✅ Priority system</a:t>
            </a:r>
          </a:p>
          <a:p>
            <a:pPr algn="l">
              <a:lnSpc>
                <a:spcPts val="4333"/>
              </a:lnSpc>
            </a:pPr>
            <a:r>
              <a:rPr lang="en-US" sz="1200" dirty="0">
                <a:solidFill>
                  <a:srgbClr val="263C40"/>
                </a:solidFill>
                <a:latin typeface="Poppins"/>
                <a:ea typeface="Poppins"/>
                <a:cs typeface="Poppins"/>
                <a:sym typeface="Poppins"/>
              </a:rPr>
              <a:t>✅ Notification &amp; Tracking System</a:t>
            </a:r>
          </a:p>
          <a:p>
            <a:pPr algn="l">
              <a:lnSpc>
                <a:spcPts val="4333"/>
              </a:lnSpc>
            </a:pPr>
            <a:r>
              <a:rPr lang="en-US" sz="1200" dirty="0">
                <a:solidFill>
                  <a:srgbClr val="263C40"/>
                </a:solidFill>
                <a:latin typeface="Poppins"/>
                <a:ea typeface="Poppins"/>
                <a:cs typeface="Poppins"/>
                <a:sym typeface="Poppins"/>
              </a:rPr>
              <a:t>✅ Search &amp; filter system</a:t>
            </a:r>
          </a:p>
          <a:p>
            <a:pPr algn="l">
              <a:lnSpc>
                <a:spcPts val="4333"/>
              </a:lnSpc>
            </a:pPr>
            <a:r>
              <a:rPr lang="en-US" sz="1200" dirty="0">
                <a:solidFill>
                  <a:srgbClr val="263C40"/>
                </a:solidFill>
                <a:latin typeface="Poppins"/>
                <a:ea typeface="Poppins"/>
                <a:cs typeface="Poppins"/>
                <a:sym typeface="Poppins"/>
              </a:rPr>
              <a:t>✅ Admin Dashboard</a:t>
            </a:r>
          </a:p>
          <a:p>
            <a:pPr algn="l">
              <a:lnSpc>
                <a:spcPts val="4333"/>
              </a:lnSpc>
            </a:pPr>
            <a:endParaRPr lang="en-US" sz="1200" dirty="0">
              <a:solidFill>
                <a:srgbClr val="263C40"/>
              </a:solidFill>
              <a:latin typeface="Poppins"/>
              <a:ea typeface="Poppins"/>
              <a:cs typeface="Poppins"/>
              <a:sym typeface="Poppins"/>
            </a:endParaRPr>
          </a:p>
          <a:p>
            <a:pPr algn="l">
              <a:lnSpc>
                <a:spcPts val="4333"/>
              </a:lnSpc>
            </a:pPr>
            <a:endParaRPr lang="en-US" sz="1200" dirty="0">
              <a:solidFill>
                <a:srgbClr val="263C40"/>
              </a:solidFill>
              <a:latin typeface="Poppins"/>
              <a:ea typeface="Poppins"/>
              <a:cs typeface="Poppins"/>
              <a:sym typeface="Poppins"/>
            </a:endParaRPr>
          </a:p>
          <a:p>
            <a:pPr algn="l">
              <a:lnSpc>
                <a:spcPts val="4333"/>
              </a:lnSpc>
            </a:pPr>
            <a:endParaRPr lang="en-US" sz="1200" dirty="0">
              <a:solidFill>
                <a:srgbClr val="263C40"/>
              </a:solidFill>
              <a:latin typeface="Poppins"/>
              <a:ea typeface="Poppins"/>
              <a:cs typeface="Poppins"/>
              <a:sym typeface="Poppins"/>
            </a:endParaRPr>
          </a:p>
          <a:p>
            <a:pPr algn="l">
              <a:lnSpc>
                <a:spcPts val="4333"/>
              </a:lnSpc>
            </a:pPr>
            <a:endParaRPr lang="en-US" sz="3095" dirty="0">
              <a:solidFill>
                <a:srgbClr val="263C40"/>
              </a:solidFill>
              <a:latin typeface="Poppins"/>
              <a:ea typeface="Poppins"/>
              <a:cs typeface="Poppins"/>
              <a:sym typeface="Poppins"/>
            </a:endParaRPr>
          </a:p>
        </p:txBody>
      </p:sp>
      <p:sp>
        <p:nvSpPr>
          <p:cNvPr id="7" name="Freeform 7"/>
          <p:cNvSpPr/>
          <p:nvPr/>
        </p:nvSpPr>
        <p:spPr>
          <a:xfrm>
            <a:off x="258896" y="-134322"/>
            <a:ext cx="1658793" cy="1711955"/>
          </a:xfrm>
          <a:custGeom>
            <a:avLst/>
            <a:gdLst/>
            <a:ahLst/>
            <a:cxnLst/>
            <a:rect l="l" t="t" r="r" b="b"/>
            <a:pathLst>
              <a:path w="1658793" h="1711955">
                <a:moveTo>
                  <a:pt x="0" y="0"/>
                </a:moveTo>
                <a:lnTo>
                  <a:pt x="1658793" y="0"/>
                </a:lnTo>
                <a:lnTo>
                  <a:pt x="1658793" y="1711955"/>
                </a:lnTo>
                <a:lnTo>
                  <a:pt x="0" y="1711955"/>
                </a:lnTo>
                <a:lnTo>
                  <a:pt x="0" y="0"/>
                </a:lnTo>
                <a:close/>
              </a:path>
            </a:pathLst>
          </a:custGeom>
          <a:blipFill>
            <a:blip r:embed="rId7"/>
            <a:stretch>
              <a:fillRect l="-1602" r="-1602"/>
            </a:stretch>
          </a:blipFill>
        </p:spPr>
      </p:sp>
      <p:sp>
        <p:nvSpPr>
          <p:cNvPr id="8" name="Freeform 8"/>
          <p:cNvSpPr/>
          <p:nvPr/>
        </p:nvSpPr>
        <p:spPr>
          <a:xfrm>
            <a:off x="7944958" y="-106948"/>
            <a:ext cx="1513036" cy="1513036"/>
          </a:xfrm>
          <a:custGeom>
            <a:avLst/>
            <a:gdLst/>
            <a:ahLst/>
            <a:cxnLst/>
            <a:rect l="l" t="t" r="r" b="b"/>
            <a:pathLst>
              <a:path w="1513036" h="1513036">
                <a:moveTo>
                  <a:pt x="0" y="0"/>
                </a:moveTo>
                <a:lnTo>
                  <a:pt x="1513036" y="0"/>
                </a:lnTo>
                <a:lnTo>
                  <a:pt x="1513036" y="1513036"/>
                </a:lnTo>
                <a:lnTo>
                  <a:pt x="0" y="1513036"/>
                </a:lnTo>
                <a:lnTo>
                  <a:pt x="0" y="0"/>
                </a:lnTo>
                <a:close/>
              </a:path>
            </a:pathLst>
          </a:custGeom>
          <a:blipFill>
            <a:blip r:embed="rId8"/>
            <a:stretch>
              <a:fillRect/>
            </a:stretch>
          </a:blipFill>
        </p:spPr>
      </p:sp>
      <p:sp>
        <p:nvSpPr>
          <p:cNvPr id="9" name="Freeform 9"/>
          <p:cNvSpPr/>
          <p:nvPr/>
        </p:nvSpPr>
        <p:spPr>
          <a:xfrm>
            <a:off x="16420221" y="124231"/>
            <a:ext cx="1303975" cy="1281858"/>
          </a:xfrm>
          <a:custGeom>
            <a:avLst/>
            <a:gdLst/>
            <a:ahLst/>
            <a:cxnLst/>
            <a:rect l="l" t="t" r="r" b="b"/>
            <a:pathLst>
              <a:path w="1303975" h="1281858">
                <a:moveTo>
                  <a:pt x="0" y="0"/>
                </a:moveTo>
                <a:lnTo>
                  <a:pt x="1303975" y="0"/>
                </a:lnTo>
                <a:lnTo>
                  <a:pt x="1303975" y="1281857"/>
                </a:lnTo>
                <a:lnTo>
                  <a:pt x="0" y="1281857"/>
                </a:lnTo>
                <a:lnTo>
                  <a:pt x="0" y="0"/>
                </a:lnTo>
                <a:close/>
              </a:path>
            </a:pathLst>
          </a:custGeom>
          <a:blipFill>
            <a:blip r:embed="rId9"/>
            <a:stretch>
              <a:fillRect l="-627" t="-414" b="-414"/>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783800" y="2490114"/>
            <a:ext cx="6522534" cy="6514380"/>
          </a:xfrm>
          <a:custGeom>
            <a:avLst/>
            <a:gdLst/>
            <a:ahLst/>
            <a:cxnLst/>
            <a:rect l="l" t="t" r="r" b="b"/>
            <a:pathLst>
              <a:path w="6522534" h="6514380">
                <a:moveTo>
                  <a:pt x="0" y="0"/>
                </a:moveTo>
                <a:lnTo>
                  <a:pt x="6522534" y="0"/>
                </a:lnTo>
                <a:lnTo>
                  <a:pt x="6522534" y="6514381"/>
                </a:lnTo>
                <a:lnTo>
                  <a:pt x="0" y="6514381"/>
                </a:lnTo>
                <a:lnTo>
                  <a:pt x="0" y="0"/>
                </a:lnTo>
                <a:close/>
              </a:path>
            </a:pathLst>
          </a:custGeom>
          <a:blipFill>
            <a:blip r:embed="rId6"/>
            <a:stretch>
              <a:fillRect/>
            </a:stretch>
          </a:blipFill>
        </p:spPr>
      </p:sp>
      <p:sp>
        <p:nvSpPr>
          <p:cNvPr id="5" name="TextBox 5"/>
          <p:cNvSpPr txBox="1"/>
          <p:nvPr/>
        </p:nvSpPr>
        <p:spPr>
          <a:xfrm>
            <a:off x="10744200" y="4182675"/>
            <a:ext cx="5070034" cy="3129255"/>
          </a:xfrm>
          <a:prstGeom prst="rect">
            <a:avLst/>
          </a:prstGeom>
        </p:spPr>
        <p:txBody>
          <a:bodyPr lIns="0" tIns="0" rIns="0" bIns="0" rtlCol="0" anchor="t">
            <a:spAutoFit/>
          </a:bodyPr>
          <a:lstStyle/>
          <a:p>
            <a:pPr marL="637446" lvl="1" indent="-318723" algn="l">
              <a:lnSpc>
                <a:spcPts val="4133"/>
              </a:lnSpc>
              <a:buFont typeface="Arial"/>
              <a:buChar char="•"/>
            </a:pPr>
            <a:r>
              <a:rPr lang="en-US" sz="1200" dirty="0">
                <a:solidFill>
                  <a:srgbClr val="263C40"/>
                </a:solidFill>
                <a:latin typeface="Poppins"/>
                <a:ea typeface="Poppins"/>
                <a:cs typeface="Poppins"/>
                <a:sym typeface="Poppins"/>
              </a:rPr>
              <a:t>Admin reviews and assigns task</a:t>
            </a:r>
          </a:p>
          <a:p>
            <a:pPr algn="l">
              <a:lnSpc>
                <a:spcPts val="4133"/>
              </a:lnSpc>
            </a:pPr>
            <a:endParaRPr lang="en-US" sz="1200" dirty="0">
              <a:solidFill>
                <a:srgbClr val="263C40"/>
              </a:solidFill>
              <a:latin typeface="Poppins"/>
              <a:ea typeface="Poppins"/>
              <a:cs typeface="Poppins"/>
              <a:sym typeface="Poppins"/>
            </a:endParaRPr>
          </a:p>
          <a:p>
            <a:pPr marL="637446" lvl="1" indent="-318723" algn="l">
              <a:lnSpc>
                <a:spcPts val="4133"/>
              </a:lnSpc>
              <a:buFont typeface="Arial"/>
              <a:buChar char="•"/>
            </a:pPr>
            <a:r>
              <a:rPr lang="en-US" sz="1200" dirty="0">
                <a:solidFill>
                  <a:srgbClr val="263C40"/>
                </a:solidFill>
                <a:latin typeface="Poppins"/>
                <a:ea typeface="Poppins"/>
                <a:cs typeface="Poppins"/>
                <a:sym typeface="Poppins"/>
              </a:rPr>
              <a:t>Issue gets resolved</a:t>
            </a:r>
          </a:p>
          <a:p>
            <a:pPr algn="l">
              <a:lnSpc>
                <a:spcPts val="4133"/>
              </a:lnSpc>
            </a:pPr>
            <a:endParaRPr lang="en-US" sz="1200" dirty="0">
              <a:solidFill>
                <a:srgbClr val="263C40"/>
              </a:solidFill>
              <a:latin typeface="Poppins"/>
              <a:ea typeface="Poppins"/>
              <a:cs typeface="Poppins"/>
              <a:sym typeface="Poppins"/>
            </a:endParaRPr>
          </a:p>
          <a:p>
            <a:pPr marL="637446" lvl="1" indent="-318723" algn="l">
              <a:lnSpc>
                <a:spcPts val="4133"/>
              </a:lnSpc>
              <a:buFont typeface="Arial"/>
              <a:buChar char="•"/>
            </a:pPr>
            <a:r>
              <a:rPr lang="en-US" sz="1200" dirty="0">
                <a:solidFill>
                  <a:srgbClr val="263C40"/>
                </a:solidFill>
                <a:latin typeface="Poppins"/>
                <a:ea typeface="Poppins"/>
                <a:cs typeface="Poppins"/>
                <a:sym typeface="Poppins"/>
              </a:rPr>
              <a:t>User receives update</a:t>
            </a:r>
          </a:p>
          <a:p>
            <a:pPr algn="l">
              <a:lnSpc>
                <a:spcPts val="4133"/>
              </a:lnSpc>
            </a:pPr>
            <a:endParaRPr lang="en-US" sz="2952" dirty="0">
              <a:solidFill>
                <a:srgbClr val="263C40"/>
              </a:solidFill>
              <a:latin typeface="Poppins"/>
              <a:ea typeface="Poppins"/>
              <a:cs typeface="Poppins"/>
              <a:sym typeface="Poppins"/>
            </a:endParaRPr>
          </a:p>
        </p:txBody>
      </p:sp>
      <p:sp>
        <p:nvSpPr>
          <p:cNvPr id="6" name="TextBox 6"/>
          <p:cNvSpPr txBox="1"/>
          <p:nvPr/>
        </p:nvSpPr>
        <p:spPr>
          <a:xfrm>
            <a:off x="3818176" y="1288094"/>
            <a:ext cx="10549706" cy="996427"/>
          </a:xfrm>
          <a:prstGeom prst="rect">
            <a:avLst/>
          </a:prstGeom>
        </p:spPr>
        <p:txBody>
          <a:bodyPr lIns="0" tIns="0" rIns="0" bIns="0" rtlCol="0" anchor="t">
            <a:spAutoFit/>
          </a:bodyPr>
          <a:lstStyle/>
          <a:p>
            <a:pPr marL="0" lvl="0" indent="0" algn="ctr">
              <a:lnSpc>
                <a:spcPts val="9800"/>
              </a:lnSpc>
              <a:spcBef>
                <a:spcPct val="0"/>
              </a:spcBef>
            </a:pPr>
            <a:r>
              <a:rPr lang="en-US" sz="1400" dirty="0">
                <a:solidFill>
                  <a:srgbClr val="263C40"/>
                </a:solidFill>
                <a:latin typeface="Hussar Bold"/>
                <a:ea typeface="Hussar Bold"/>
                <a:cs typeface="Hussar Bold"/>
                <a:sym typeface="Hussar Bold"/>
              </a:rPr>
              <a:t>Worki</a:t>
            </a:r>
            <a:r>
              <a:rPr lang="en-US" sz="1400" b="1" u="none" strike="noStrike" dirty="0">
                <a:solidFill>
                  <a:srgbClr val="263C40"/>
                </a:solidFill>
                <a:latin typeface="Hussar Bold"/>
                <a:ea typeface="Hussar Bold"/>
                <a:cs typeface="Hussar Bold"/>
                <a:sym typeface="Hussar Bold"/>
              </a:rPr>
              <a:t>ng Process</a:t>
            </a:r>
          </a:p>
        </p:txBody>
      </p:sp>
      <p:sp>
        <p:nvSpPr>
          <p:cNvPr id="7" name="Freeform 7"/>
          <p:cNvSpPr/>
          <p:nvPr/>
        </p:nvSpPr>
        <p:spPr>
          <a:xfrm>
            <a:off x="2621466" y="2490114"/>
            <a:ext cx="6522534" cy="6514380"/>
          </a:xfrm>
          <a:custGeom>
            <a:avLst/>
            <a:gdLst/>
            <a:ahLst/>
            <a:cxnLst/>
            <a:rect l="l" t="t" r="r" b="b"/>
            <a:pathLst>
              <a:path w="6522534" h="6514380">
                <a:moveTo>
                  <a:pt x="0" y="0"/>
                </a:moveTo>
                <a:lnTo>
                  <a:pt x="6522534" y="0"/>
                </a:lnTo>
                <a:lnTo>
                  <a:pt x="6522534" y="6514381"/>
                </a:lnTo>
                <a:lnTo>
                  <a:pt x="0" y="6514381"/>
                </a:lnTo>
                <a:lnTo>
                  <a:pt x="0" y="0"/>
                </a:lnTo>
                <a:close/>
              </a:path>
            </a:pathLst>
          </a:custGeom>
          <a:blipFill>
            <a:blip r:embed="rId6"/>
            <a:stretch>
              <a:fillRect/>
            </a:stretch>
          </a:blipFill>
        </p:spPr>
      </p:sp>
      <p:sp>
        <p:nvSpPr>
          <p:cNvPr id="8" name="TextBox 8"/>
          <p:cNvSpPr txBox="1"/>
          <p:nvPr/>
        </p:nvSpPr>
        <p:spPr>
          <a:xfrm>
            <a:off x="3164547" y="4382859"/>
            <a:ext cx="4578374" cy="2728889"/>
          </a:xfrm>
          <a:prstGeom prst="rect">
            <a:avLst/>
          </a:prstGeom>
        </p:spPr>
        <p:txBody>
          <a:bodyPr lIns="0" tIns="0" rIns="0" bIns="0" rtlCol="0" anchor="t">
            <a:spAutoFit/>
          </a:bodyPr>
          <a:lstStyle/>
          <a:p>
            <a:pPr marL="658717" lvl="1" indent="-329358" algn="ctr">
              <a:lnSpc>
                <a:spcPts val="4271"/>
              </a:lnSpc>
              <a:buFont typeface="Arial"/>
              <a:buChar char="•"/>
            </a:pPr>
            <a:r>
              <a:rPr lang="en-US" sz="1200" dirty="0">
                <a:solidFill>
                  <a:srgbClr val="263C40"/>
                </a:solidFill>
                <a:latin typeface="Poppins"/>
                <a:ea typeface="Poppins"/>
                <a:cs typeface="Poppins"/>
                <a:sym typeface="Poppins"/>
              </a:rPr>
              <a:t>User logs into the system</a:t>
            </a:r>
          </a:p>
          <a:p>
            <a:pPr marL="658717" lvl="1" indent="-329358" algn="ctr">
              <a:lnSpc>
                <a:spcPts val="4271"/>
              </a:lnSpc>
              <a:buFont typeface="Arial"/>
              <a:buChar char="•"/>
            </a:pPr>
            <a:r>
              <a:rPr lang="en-US" sz="1200" dirty="0">
                <a:solidFill>
                  <a:srgbClr val="263C40"/>
                </a:solidFill>
                <a:latin typeface="Poppins"/>
                <a:ea typeface="Poppins"/>
                <a:cs typeface="Poppins"/>
                <a:sym typeface="Poppins"/>
              </a:rPr>
              <a:t>Submits complaint with details</a:t>
            </a:r>
          </a:p>
          <a:p>
            <a:pPr marL="658717" lvl="1" indent="-329358" algn="ctr">
              <a:lnSpc>
                <a:spcPts val="4271"/>
              </a:lnSpc>
              <a:buFont typeface="Arial"/>
              <a:buChar char="•"/>
            </a:pPr>
            <a:r>
              <a:rPr lang="en-US" sz="1200" dirty="0">
                <a:solidFill>
                  <a:srgbClr val="263C40"/>
                </a:solidFill>
                <a:latin typeface="Poppins"/>
                <a:ea typeface="Poppins"/>
                <a:cs typeface="Poppins"/>
                <a:sym typeface="Poppins"/>
              </a:rPr>
              <a:t>Data stored in database</a:t>
            </a:r>
          </a:p>
          <a:p>
            <a:pPr algn="ctr">
              <a:lnSpc>
                <a:spcPts val="4271"/>
              </a:lnSpc>
            </a:pPr>
            <a:endParaRPr lang="en-US" sz="3051" dirty="0">
              <a:solidFill>
                <a:srgbClr val="263C40"/>
              </a:solidFill>
              <a:latin typeface="Poppins"/>
              <a:ea typeface="Poppins"/>
              <a:cs typeface="Poppins"/>
              <a:sym typeface="Poppins"/>
            </a:endParaRPr>
          </a:p>
          <a:p>
            <a:pPr marL="0" lvl="0" indent="0" algn="ctr">
              <a:lnSpc>
                <a:spcPts val="4271"/>
              </a:lnSpc>
              <a:spcBef>
                <a:spcPct val="0"/>
              </a:spcBef>
            </a:pPr>
            <a:endParaRPr lang="en-US" sz="3051" dirty="0">
              <a:solidFill>
                <a:srgbClr val="263C40"/>
              </a:solidFill>
              <a:latin typeface="Poppins"/>
              <a:ea typeface="Poppins"/>
              <a:cs typeface="Poppins"/>
              <a:sym typeface="Poppins"/>
            </a:endParaRPr>
          </a:p>
        </p:txBody>
      </p:sp>
      <p:sp>
        <p:nvSpPr>
          <p:cNvPr id="9" name="Freeform 9"/>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7"/>
            <a:stretch>
              <a:fillRect l="-615" t="-15707" b="-15707"/>
            </a:stretch>
          </a:blipFill>
        </p:spPr>
      </p:sp>
      <p:sp>
        <p:nvSpPr>
          <p:cNvPr id="10" name="Freeform 10"/>
          <p:cNvSpPr/>
          <p:nvPr/>
        </p:nvSpPr>
        <p:spPr>
          <a:xfrm>
            <a:off x="8229600" y="0"/>
            <a:ext cx="1693179" cy="1430969"/>
          </a:xfrm>
          <a:custGeom>
            <a:avLst/>
            <a:gdLst/>
            <a:ahLst/>
            <a:cxnLst/>
            <a:rect l="l" t="t" r="r" b="b"/>
            <a:pathLst>
              <a:path w="1693179" h="1430969">
                <a:moveTo>
                  <a:pt x="0" y="0"/>
                </a:moveTo>
                <a:lnTo>
                  <a:pt x="1693179" y="0"/>
                </a:lnTo>
                <a:lnTo>
                  <a:pt x="1693179" y="1430969"/>
                </a:lnTo>
                <a:lnTo>
                  <a:pt x="0" y="1430969"/>
                </a:lnTo>
                <a:lnTo>
                  <a:pt x="0" y="0"/>
                </a:lnTo>
                <a:close/>
              </a:path>
            </a:pathLst>
          </a:custGeom>
          <a:blipFill>
            <a:blip r:embed="rId8"/>
            <a:stretch>
              <a:fillRect t="-4850" b="-13473"/>
            </a:stretch>
          </a:blipFill>
        </p:spPr>
      </p:sp>
      <p:sp>
        <p:nvSpPr>
          <p:cNvPr id="11" name="Freeform 11"/>
          <p:cNvSpPr/>
          <p:nvPr/>
        </p:nvSpPr>
        <p:spPr>
          <a:xfrm>
            <a:off x="16306334" y="97451"/>
            <a:ext cx="1394361" cy="1370711"/>
          </a:xfrm>
          <a:custGeom>
            <a:avLst/>
            <a:gdLst/>
            <a:ahLst/>
            <a:cxnLst/>
            <a:rect l="l" t="t" r="r" b="b"/>
            <a:pathLst>
              <a:path w="1394361" h="1370711">
                <a:moveTo>
                  <a:pt x="0" y="0"/>
                </a:moveTo>
                <a:lnTo>
                  <a:pt x="1394361" y="0"/>
                </a:lnTo>
                <a:lnTo>
                  <a:pt x="1394361" y="1370710"/>
                </a:lnTo>
                <a:lnTo>
                  <a:pt x="0" y="1370710"/>
                </a:lnTo>
                <a:lnTo>
                  <a:pt x="0" y="0"/>
                </a:lnTo>
                <a:close/>
              </a:path>
            </a:pathLst>
          </a:custGeom>
          <a:blipFill>
            <a:blip r:embed="rId9"/>
            <a:stretch>
              <a:fillRect l="-627" t="-414" b="-414"/>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5400000">
            <a:off x="13440972" y="-1054589"/>
            <a:ext cx="3792439" cy="5901617"/>
          </a:xfrm>
          <a:custGeom>
            <a:avLst/>
            <a:gdLst/>
            <a:ahLst/>
            <a:cxnLst/>
            <a:rect l="l" t="t" r="r" b="b"/>
            <a:pathLst>
              <a:path w="3792439" h="5901617">
                <a:moveTo>
                  <a:pt x="0" y="0"/>
                </a:moveTo>
                <a:lnTo>
                  <a:pt x="3792439" y="0"/>
                </a:lnTo>
                <a:lnTo>
                  <a:pt x="3792439" y="5901617"/>
                </a:lnTo>
                <a:lnTo>
                  <a:pt x="0" y="590161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513669" y="9073998"/>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512166" y="898157"/>
            <a:ext cx="8697365" cy="8686493"/>
          </a:xfrm>
          <a:custGeom>
            <a:avLst/>
            <a:gdLst/>
            <a:ahLst/>
            <a:cxnLst/>
            <a:rect l="l" t="t" r="r" b="b"/>
            <a:pathLst>
              <a:path w="8697365" h="8686493">
                <a:moveTo>
                  <a:pt x="0" y="0"/>
                </a:moveTo>
                <a:lnTo>
                  <a:pt x="8697365" y="0"/>
                </a:lnTo>
                <a:lnTo>
                  <a:pt x="8697365" y="8686493"/>
                </a:lnTo>
                <a:lnTo>
                  <a:pt x="0" y="8686493"/>
                </a:lnTo>
                <a:lnTo>
                  <a:pt x="0" y="0"/>
                </a:lnTo>
                <a:close/>
              </a:path>
            </a:pathLst>
          </a:custGeom>
          <a:blipFill>
            <a:blip r:embed="rId6"/>
            <a:stretch>
              <a:fillRect/>
            </a:stretch>
          </a:blipFill>
        </p:spPr>
      </p:sp>
      <p:sp>
        <p:nvSpPr>
          <p:cNvPr id="6" name="Freeform 6"/>
          <p:cNvSpPr/>
          <p:nvPr/>
        </p:nvSpPr>
        <p:spPr>
          <a:xfrm>
            <a:off x="10509742" y="0"/>
            <a:ext cx="7778258" cy="10287000"/>
          </a:xfrm>
          <a:custGeom>
            <a:avLst/>
            <a:gdLst/>
            <a:ahLst/>
            <a:cxnLst/>
            <a:rect l="l" t="t" r="r" b="b"/>
            <a:pathLst>
              <a:path w="7778258" h="10287000">
                <a:moveTo>
                  <a:pt x="0" y="0"/>
                </a:moveTo>
                <a:lnTo>
                  <a:pt x="7778258" y="0"/>
                </a:lnTo>
                <a:lnTo>
                  <a:pt x="7778258" y="10287000"/>
                </a:lnTo>
                <a:lnTo>
                  <a:pt x="0" y="10287000"/>
                </a:lnTo>
                <a:lnTo>
                  <a:pt x="0" y="0"/>
                </a:lnTo>
                <a:close/>
              </a:path>
            </a:pathLst>
          </a:custGeom>
          <a:blipFill>
            <a:blip r:embed="rId7"/>
            <a:stretch>
              <a:fillRect l="-17558" t="-4938" r="-27758" b="-4938"/>
            </a:stretch>
          </a:blipFill>
        </p:spPr>
      </p:sp>
      <p:sp>
        <p:nvSpPr>
          <p:cNvPr id="7" name="TextBox 7"/>
          <p:cNvSpPr txBox="1"/>
          <p:nvPr/>
        </p:nvSpPr>
        <p:spPr>
          <a:xfrm>
            <a:off x="1943904" y="4033516"/>
            <a:ext cx="7189847" cy="3203506"/>
          </a:xfrm>
          <a:prstGeom prst="rect">
            <a:avLst/>
          </a:prstGeom>
        </p:spPr>
        <p:txBody>
          <a:bodyPr lIns="0" tIns="0" rIns="0" bIns="0" rtlCol="0" anchor="t">
            <a:spAutoFit/>
          </a:bodyPr>
          <a:lstStyle/>
          <a:p>
            <a:pPr marL="640352" lvl="1" indent="-320176" algn="l">
              <a:lnSpc>
                <a:spcPts val="4152"/>
              </a:lnSpc>
              <a:spcBef>
                <a:spcPct val="0"/>
              </a:spcBef>
              <a:buFont typeface="Arial"/>
              <a:buChar char="•"/>
            </a:pPr>
            <a:r>
              <a:rPr lang="en-US" sz="1200" dirty="0">
                <a:solidFill>
                  <a:srgbClr val="263C40"/>
                </a:solidFill>
                <a:latin typeface="Poppins"/>
                <a:ea typeface="Poppins"/>
                <a:cs typeface="Poppins"/>
                <a:sym typeface="Poppins"/>
              </a:rPr>
              <a:t>Mobile application development</a:t>
            </a:r>
          </a:p>
          <a:p>
            <a:pPr marL="640352" lvl="1" indent="-320176" algn="l">
              <a:lnSpc>
                <a:spcPts val="4152"/>
              </a:lnSpc>
              <a:spcBef>
                <a:spcPct val="0"/>
              </a:spcBef>
              <a:buFont typeface="Arial"/>
              <a:buChar char="•"/>
            </a:pPr>
            <a:r>
              <a:rPr lang="en-US" sz="1200" dirty="0">
                <a:solidFill>
                  <a:srgbClr val="263C40"/>
                </a:solidFill>
                <a:latin typeface="Poppins"/>
                <a:ea typeface="Poppins"/>
                <a:cs typeface="Poppins"/>
                <a:sym typeface="Poppins"/>
              </a:rPr>
              <a:t>AI-based issue detection</a:t>
            </a:r>
          </a:p>
          <a:p>
            <a:pPr marL="640352" lvl="1" indent="-320176" algn="l">
              <a:lnSpc>
                <a:spcPts val="4152"/>
              </a:lnSpc>
              <a:spcBef>
                <a:spcPct val="0"/>
              </a:spcBef>
              <a:buFont typeface="Arial"/>
              <a:buChar char="•"/>
            </a:pPr>
            <a:r>
              <a:rPr lang="en-US" sz="1200" dirty="0">
                <a:solidFill>
                  <a:srgbClr val="263C40"/>
                </a:solidFill>
                <a:latin typeface="Poppins"/>
                <a:ea typeface="Poppins"/>
                <a:cs typeface="Poppins"/>
                <a:sym typeface="Poppins"/>
              </a:rPr>
              <a:t>AI Priority Scoring</a:t>
            </a:r>
          </a:p>
          <a:p>
            <a:pPr marL="640352" lvl="1" indent="-320176" algn="l">
              <a:lnSpc>
                <a:spcPts val="4152"/>
              </a:lnSpc>
              <a:spcBef>
                <a:spcPct val="0"/>
              </a:spcBef>
              <a:buFont typeface="Arial"/>
              <a:buChar char="•"/>
            </a:pPr>
            <a:r>
              <a:rPr lang="en-US" sz="1200" dirty="0">
                <a:solidFill>
                  <a:srgbClr val="263C40"/>
                </a:solidFill>
                <a:latin typeface="Poppins"/>
                <a:ea typeface="Poppins"/>
                <a:cs typeface="Poppins"/>
                <a:sym typeface="Poppins"/>
              </a:rPr>
              <a:t>SLA Timer(Countdown system)</a:t>
            </a:r>
          </a:p>
          <a:p>
            <a:pPr marL="640352" lvl="1" indent="-320176" algn="l">
              <a:lnSpc>
                <a:spcPts val="4152"/>
              </a:lnSpc>
              <a:spcBef>
                <a:spcPct val="0"/>
              </a:spcBef>
              <a:buFont typeface="Arial"/>
              <a:buChar char="•"/>
            </a:pPr>
            <a:r>
              <a:rPr lang="en-US" sz="1200" dirty="0">
                <a:solidFill>
                  <a:srgbClr val="263C40"/>
                </a:solidFill>
                <a:latin typeface="Poppins"/>
                <a:ea typeface="Poppins"/>
                <a:cs typeface="Poppins"/>
                <a:sym typeface="Poppins"/>
              </a:rPr>
              <a:t>Offline Mode</a:t>
            </a:r>
          </a:p>
          <a:p>
            <a:pPr algn="l">
              <a:lnSpc>
                <a:spcPts val="4152"/>
              </a:lnSpc>
              <a:spcBef>
                <a:spcPct val="0"/>
              </a:spcBef>
            </a:pPr>
            <a:endParaRPr lang="en-US" sz="2965" dirty="0">
              <a:solidFill>
                <a:srgbClr val="263C40"/>
              </a:solidFill>
              <a:latin typeface="Poppins"/>
              <a:ea typeface="Poppins"/>
              <a:cs typeface="Poppins"/>
              <a:sym typeface="Poppins"/>
            </a:endParaRPr>
          </a:p>
        </p:txBody>
      </p:sp>
      <p:sp>
        <p:nvSpPr>
          <p:cNvPr id="8" name="TextBox 8"/>
          <p:cNvSpPr txBox="1"/>
          <p:nvPr/>
        </p:nvSpPr>
        <p:spPr>
          <a:xfrm>
            <a:off x="2238973" y="2152416"/>
            <a:ext cx="5938900" cy="996427"/>
          </a:xfrm>
          <a:prstGeom prst="rect">
            <a:avLst/>
          </a:prstGeom>
        </p:spPr>
        <p:txBody>
          <a:bodyPr lIns="0" tIns="0" rIns="0" bIns="0" rtlCol="0" anchor="t">
            <a:spAutoFit/>
          </a:bodyPr>
          <a:lstStyle/>
          <a:p>
            <a:pPr marL="0" lvl="0" indent="0" algn="ctr">
              <a:lnSpc>
                <a:spcPts val="9799"/>
              </a:lnSpc>
              <a:spcBef>
                <a:spcPct val="0"/>
              </a:spcBef>
            </a:pPr>
            <a:r>
              <a:rPr lang="en-US" sz="1400" dirty="0">
                <a:solidFill>
                  <a:srgbClr val="263C40"/>
                </a:solidFill>
                <a:latin typeface="Hussar Bold"/>
                <a:ea typeface="Hussar Bold"/>
                <a:cs typeface="Hussar Bold"/>
                <a:sym typeface="Hussar Bold"/>
              </a:rPr>
              <a:t>Future Sc</a:t>
            </a:r>
            <a:r>
              <a:rPr lang="en-US" sz="1400" b="1" u="none" strike="noStrike" dirty="0">
                <a:solidFill>
                  <a:srgbClr val="263C40"/>
                </a:solidFill>
                <a:latin typeface="Hussar Bold"/>
                <a:ea typeface="Hussar Bold"/>
                <a:cs typeface="Hussar Bold"/>
                <a:sym typeface="Hussar Bold"/>
              </a:rPr>
              <a:t>ope</a:t>
            </a:r>
          </a:p>
        </p:txBody>
      </p:sp>
      <p:sp>
        <p:nvSpPr>
          <p:cNvPr id="9" name="Freeform 9"/>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8"/>
            <a:stretch>
              <a:fillRect l="-615" t="-15707" b="-15707"/>
            </a:stretch>
          </a:blipFill>
        </p:spPr>
      </p:sp>
      <p:sp>
        <p:nvSpPr>
          <p:cNvPr id="10" name="Freeform 10"/>
          <p:cNvSpPr/>
          <p:nvPr/>
        </p:nvSpPr>
        <p:spPr>
          <a:xfrm>
            <a:off x="8229600" y="0"/>
            <a:ext cx="1828800" cy="1545587"/>
          </a:xfrm>
          <a:custGeom>
            <a:avLst/>
            <a:gdLst/>
            <a:ahLst/>
            <a:cxnLst/>
            <a:rect l="l" t="t" r="r" b="b"/>
            <a:pathLst>
              <a:path w="1828800" h="1545587">
                <a:moveTo>
                  <a:pt x="0" y="0"/>
                </a:moveTo>
                <a:lnTo>
                  <a:pt x="1828800" y="0"/>
                </a:lnTo>
                <a:lnTo>
                  <a:pt x="1828800" y="1545587"/>
                </a:lnTo>
                <a:lnTo>
                  <a:pt x="0" y="1545587"/>
                </a:lnTo>
                <a:lnTo>
                  <a:pt x="0" y="0"/>
                </a:lnTo>
                <a:close/>
              </a:path>
            </a:pathLst>
          </a:custGeom>
          <a:blipFill>
            <a:blip r:embed="rId9"/>
            <a:stretch>
              <a:fillRect t="-4850" b="-13473"/>
            </a:stretch>
          </a:blipFill>
        </p:spPr>
      </p:sp>
      <p:sp>
        <p:nvSpPr>
          <p:cNvPr id="11" name="Freeform 11"/>
          <p:cNvSpPr/>
          <p:nvPr/>
        </p:nvSpPr>
        <p:spPr>
          <a:xfrm>
            <a:off x="16506439" y="97451"/>
            <a:ext cx="1505722" cy="1480182"/>
          </a:xfrm>
          <a:custGeom>
            <a:avLst/>
            <a:gdLst/>
            <a:ahLst/>
            <a:cxnLst/>
            <a:rect l="l" t="t" r="r" b="b"/>
            <a:pathLst>
              <a:path w="1505722" h="1480182">
                <a:moveTo>
                  <a:pt x="0" y="0"/>
                </a:moveTo>
                <a:lnTo>
                  <a:pt x="1505722" y="0"/>
                </a:lnTo>
                <a:lnTo>
                  <a:pt x="1505722" y="1480182"/>
                </a:lnTo>
                <a:lnTo>
                  <a:pt x="0" y="1480182"/>
                </a:lnTo>
                <a:lnTo>
                  <a:pt x="0" y="0"/>
                </a:lnTo>
                <a:close/>
              </a:path>
            </a:pathLst>
          </a:custGeom>
          <a:blipFill>
            <a:blip r:embed="rId10"/>
            <a:stretch>
              <a:fillRect l="-627" t="-414" b="-414"/>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a:off x="2634987" y="1028700"/>
            <a:ext cx="12879297" cy="8693526"/>
          </a:xfrm>
          <a:custGeom>
            <a:avLst/>
            <a:gdLst/>
            <a:ahLst/>
            <a:cxnLst/>
            <a:rect l="l" t="t" r="r" b="b"/>
            <a:pathLst>
              <a:path w="12879297" h="8693526">
                <a:moveTo>
                  <a:pt x="0" y="0"/>
                </a:moveTo>
                <a:lnTo>
                  <a:pt x="12879298" y="0"/>
                </a:lnTo>
                <a:lnTo>
                  <a:pt x="12879298" y="8693526"/>
                </a:lnTo>
                <a:lnTo>
                  <a:pt x="0" y="8693526"/>
                </a:lnTo>
                <a:lnTo>
                  <a:pt x="0" y="0"/>
                </a:lnTo>
                <a:close/>
              </a:path>
            </a:pathLst>
          </a:custGeom>
          <a:blipFill>
            <a:blip r:embed="rId2"/>
            <a:stretch>
              <a:fillRect/>
            </a:stretch>
          </a:blipFill>
        </p:spPr>
      </p:sp>
      <p:sp>
        <p:nvSpPr>
          <p:cNvPr id="3" name="TextBox 3"/>
          <p:cNvSpPr txBox="1"/>
          <p:nvPr/>
        </p:nvSpPr>
        <p:spPr>
          <a:xfrm>
            <a:off x="4609709" y="1982262"/>
            <a:ext cx="9068583" cy="1592744"/>
          </a:xfrm>
          <a:prstGeom prst="rect">
            <a:avLst/>
          </a:prstGeom>
        </p:spPr>
        <p:txBody>
          <a:bodyPr lIns="0" tIns="0" rIns="0" bIns="0" rtlCol="0" anchor="t">
            <a:spAutoFit/>
          </a:bodyPr>
          <a:lstStyle/>
          <a:p>
            <a:pPr algn="ctr">
              <a:lnSpc>
                <a:spcPts val="16005"/>
              </a:lnSpc>
              <a:spcBef>
                <a:spcPct val="0"/>
              </a:spcBef>
            </a:pPr>
            <a:r>
              <a:rPr lang="en-US" sz="1400" dirty="0">
                <a:solidFill>
                  <a:srgbClr val="263C40"/>
                </a:solidFill>
                <a:latin typeface="Hussar Bold"/>
                <a:ea typeface="Hussar Bold"/>
                <a:cs typeface="Hussar Bold"/>
                <a:sym typeface="Hussar Bold"/>
              </a:rPr>
              <a:t>Conclusion</a:t>
            </a:r>
          </a:p>
        </p:txBody>
      </p:sp>
      <p:sp>
        <p:nvSpPr>
          <p:cNvPr id="4" name="Freeform 4"/>
          <p:cNvSpPr/>
          <p:nvPr/>
        </p:nvSpPr>
        <p:spPr>
          <a:xfrm>
            <a:off x="114300" y="9258300"/>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5400000" flipH="1">
            <a:off x="11422044" y="3449619"/>
            <a:ext cx="5372100" cy="8359811"/>
          </a:xfrm>
          <a:custGeom>
            <a:avLst/>
            <a:gdLst/>
            <a:ahLst/>
            <a:cxnLst/>
            <a:rect l="l" t="t" r="r" b="b"/>
            <a:pathLst>
              <a:path w="5372100" h="8359811">
                <a:moveTo>
                  <a:pt x="5372100" y="0"/>
                </a:moveTo>
                <a:lnTo>
                  <a:pt x="0" y="0"/>
                </a:lnTo>
                <a:lnTo>
                  <a:pt x="0" y="8359812"/>
                </a:lnTo>
                <a:lnTo>
                  <a:pt x="5372100" y="8359812"/>
                </a:lnTo>
                <a:lnTo>
                  <a:pt x="537210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3828640" y="4294212"/>
            <a:ext cx="10491992" cy="3078022"/>
          </a:xfrm>
          <a:prstGeom prst="rect">
            <a:avLst/>
          </a:prstGeom>
        </p:spPr>
        <p:txBody>
          <a:bodyPr lIns="0" tIns="0" rIns="0" bIns="0" rtlCol="0" anchor="t">
            <a:spAutoFit/>
          </a:bodyPr>
          <a:lstStyle/>
          <a:p>
            <a:pPr marL="649075" lvl="1" indent="-324537" algn="l">
              <a:lnSpc>
                <a:spcPts val="4208"/>
              </a:lnSpc>
              <a:buFont typeface="Arial"/>
              <a:buChar char="•"/>
            </a:pPr>
            <a:r>
              <a:rPr lang="en-US" sz="1200" dirty="0">
                <a:solidFill>
                  <a:srgbClr val="263C40"/>
                </a:solidFill>
                <a:latin typeface="Hussar Bold"/>
                <a:ea typeface="Hussar Bold"/>
                <a:cs typeface="Hussar Bold"/>
                <a:sym typeface="Hussar Bold"/>
              </a:rPr>
              <a:t>Provides efficient urban problem management</a:t>
            </a:r>
          </a:p>
          <a:p>
            <a:pPr marL="649075" lvl="1" indent="-324537" algn="l">
              <a:lnSpc>
                <a:spcPts val="4208"/>
              </a:lnSpc>
              <a:buFont typeface="Arial"/>
              <a:buChar char="•"/>
            </a:pPr>
            <a:r>
              <a:rPr lang="en-US" sz="1200" dirty="0">
                <a:solidFill>
                  <a:srgbClr val="263C40"/>
                </a:solidFill>
                <a:latin typeface="Hussar Bold"/>
                <a:ea typeface="Hussar Bold"/>
                <a:cs typeface="Hussar Bold"/>
                <a:sym typeface="Hussar Bold"/>
              </a:rPr>
              <a:t>Improves communication between citizens &amp; authorities</a:t>
            </a:r>
          </a:p>
          <a:p>
            <a:pPr marL="649075" lvl="1" indent="-324537" algn="l">
              <a:lnSpc>
                <a:spcPts val="4208"/>
              </a:lnSpc>
              <a:buFont typeface="Arial"/>
              <a:buChar char="•"/>
            </a:pPr>
            <a:r>
              <a:rPr lang="en-US" sz="1200" dirty="0">
                <a:solidFill>
                  <a:srgbClr val="263C40"/>
                </a:solidFill>
                <a:latin typeface="Hussar Bold"/>
                <a:ea typeface="Hussar Bold"/>
                <a:cs typeface="Hussar Bold"/>
                <a:sym typeface="Hussar Bold"/>
              </a:rPr>
              <a:t>Saves time and increases transparency</a:t>
            </a:r>
          </a:p>
          <a:p>
            <a:pPr marL="649075" lvl="1" indent="-324537" algn="l">
              <a:lnSpc>
                <a:spcPts val="4208"/>
              </a:lnSpc>
              <a:buFont typeface="Arial"/>
              <a:buChar char="•"/>
            </a:pPr>
            <a:r>
              <a:rPr lang="en-US" sz="1200" dirty="0">
                <a:solidFill>
                  <a:srgbClr val="263C40"/>
                </a:solidFill>
                <a:latin typeface="Hussar Bold"/>
                <a:ea typeface="Hussar Bold"/>
                <a:cs typeface="Hussar Bold"/>
                <a:sym typeface="Hussar Bold"/>
              </a:rPr>
              <a:t>Step towards smart city development</a:t>
            </a:r>
          </a:p>
          <a:p>
            <a:pPr algn="ctr">
              <a:lnSpc>
                <a:spcPts val="8413"/>
              </a:lnSpc>
              <a:spcBef>
                <a:spcPct val="0"/>
              </a:spcBef>
            </a:pPr>
            <a:endParaRPr lang="en-US" sz="3006" dirty="0">
              <a:solidFill>
                <a:srgbClr val="263C40"/>
              </a:solidFill>
              <a:latin typeface="Hussar Bold"/>
              <a:ea typeface="Hussar Bold"/>
              <a:cs typeface="Hussar Bold"/>
              <a:sym typeface="Hussar Bold"/>
            </a:endParaRPr>
          </a:p>
        </p:txBody>
      </p:sp>
      <p:sp>
        <p:nvSpPr>
          <p:cNvPr id="7" name="Freeform 7"/>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7"/>
            <a:stretch>
              <a:fillRect l="-615" t="-15707" b="-15707"/>
            </a:stretch>
          </a:blipFill>
        </p:spPr>
      </p:sp>
      <p:sp>
        <p:nvSpPr>
          <p:cNvPr id="8" name="Freeform 8"/>
          <p:cNvSpPr/>
          <p:nvPr/>
        </p:nvSpPr>
        <p:spPr>
          <a:xfrm>
            <a:off x="8229600" y="0"/>
            <a:ext cx="1828800" cy="1545587"/>
          </a:xfrm>
          <a:custGeom>
            <a:avLst/>
            <a:gdLst/>
            <a:ahLst/>
            <a:cxnLst/>
            <a:rect l="l" t="t" r="r" b="b"/>
            <a:pathLst>
              <a:path w="1828800" h="1545587">
                <a:moveTo>
                  <a:pt x="0" y="0"/>
                </a:moveTo>
                <a:lnTo>
                  <a:pt x="1828800" y="0"/>
                </a:lnTo>
                <a:lnTo>
                  <a:pt x="1828800" y="1545587"/>
                </a:lnTo>
                <a:lnTo>
                  <a:pt x="0" y="1545587"/>
                </a:lnTo>
                <a:lnTo>
                  <a:pt x="0" y="0"/>
                </a:lnTo>
                <a:close/>
              </a:path>
            </a:pathLst>
          </a:custGeom>
          <a:blipFill>
            <a:blip r:embed="rId8"/>
            <a:stretch>
              <a:fillRect t="-4850" b="-13473"/>
            </a:stretch>
          </a:blipFill>
        </p:spPr>
      </p:sp>
      <p:sp>
        <p:nvSpPr>
          <p:cNvPr id="9" name="Freeform 9"/>
          <p:cNvSpPr/>
          <p:nvPr/>
        </p:nvSpPr>
        <p:spPr>
          <a:xfrm>
            <a:off x="16506439" y="97451"/>
            <a:ext cx="1505722" cy="1480182"/>
          </a:xfrm>
          <a:custGeom>
            <a:avLst/>
            <a:gdLst/>
            <a:ahLst/>
            <a:cxnLst/>
            <a:rect l="l" t="t" r="r" b="b"/>
            <a:pathLst>
              <a:path w="1505722" h="1480182">
                <a:moveTo>
                  <a:pt x="0" y="0"/>
                </a:moveTo>
                <a:lnTo>
                  <a:pt x="1505722" y="0"/>
                </a:lnTo>
                <a:lnTo>
                  <a:pt x="1505722" y="1480182"/>
                </a:lnTo>
                <a:lnTo>
                  <a:pt x="0" y="1480182"/>
                </a:lnTo>
                <a:lnTo>
                  <a:pt x="0" y="0"/>
                </a:lnTo>
                <a:close/>
              </a:path>
            </a:pathLst>
          </a:custGeom>
          <a:blipFill>
            <a:blip r:embed="rId9"/>
            <a:stretch>
              <a:fillRect l="-627" t="-414" b="-414"/>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2590800" y="979053"/>
            <a:ext cx="12879297" cy="8693526"/>
          </a:xfrm>
          <a:custGeom>
            <a:avLst/>
            <a:gdLst/>
            <a:ahLst/>
            <a:cxnLst/>
            <a:rect l="l" t="t" r="r" b="b"/>
            <a:pathLst>
              <a:path w="12879297" h="8693526">
                <a:moveTo>
                  <a:pt x="0" y="0"/>
                </a:moveTo>
                <a:lnTo>
                  <a:pt x="12879298" y="0"/>
                </a:lnTo>
                <a:lnTo>
                  <a:pt x="12879298" y="8693526"/>
                </a:lnTo>
                <a:lnTo>
                  <a:pt x="0" y="8693526"/>
                </a:lnTo>
                <a:lnTo>
                  <a:pt x="0" y="0"/>
                </a:lnTo>
                <a:close/>
              </a:path>
            </a:pathLst>
          </a:custGeom>
          <a:blipFill>
            <a:blip r:embed="rId4"/>
            <a:stretch>
              <a:fillRect/>
            </a:stretch>
          </a:blipFill>
        </p:spPr>
      </p:sp>
      <p:sp>
        <p:nvSpPr>
          <p:cNvPr id="4" name="Freeform 4"/>
          <p:cNvSpPr/>
          <p:nvPr/>
        </p:nvSpPr>
        <p:spPr>
          <a:xfrm>
            <a:off x="11513669" y="9073998"/>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6975405" y="3137182"/>
            <a:ext cx="4337190" cy="2006318"/>
          </a:xfrm>
          <a:prstGeom prst="rect">
            <a:avLst/>
          </a:prstGeom>
        </p:spPr>
        <p:txBody>
          <a:bodyPr wrap="square" lIns="0" tIns="0" rIns="0" bIns="0" rtlCol="0" anchor="t">
            <a:spAutoFit/>
          </a:bodyPr>
          <a:lstStyle/>
          <a:p>
            <a:pPr algn="ctr">
              <a:lnSpc>
                <a:spcPts val="20333"/>
              </a:lnSpc>
            </a:pPr>
            <a:r>
              <a:rPr lang="en-US" sz="1400" dirty="0">
                <a:solidFill>
                  <a:srgbClr val="263C40"/>
                </a:solidFill>
                <a:latin typeface="Hussar Bold"/>
                <a:ea typeface="Hussar Bold"/>
                <a:cs typeface="Hussar Bold"/>
                <a:sym typeface="Hussar Bold"/>
              </a:rPr>
              <a:t>Thank You</a:t>
            </a:r>
          </a:p>
        </p:txBody>
      </p:sp>
      <p:sp>
        <p:nvSpPr>
          <p:cNvPr id="6" name="Freeform 6"/>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7"/>
            <a:stretch>
              <a:fillRect l="-615" t="-15707" b="-15707"/>
            </a:stretch>
          </a:blipFill>
        </p:spPr>
      </p:sp>
      <p:sp>
        <p:nvSpPr>
          <p:cNvPr id="7" name="Freeform 7"/>
          <p:cNvSpPr/>
          <p:nvPr/>
        </p:nvSpPr>
        <p:spPr>
          <a:xfrm>
            <a:off x="8229600" y="0"/>
            <a:ext cx="1828800" cy="1545587"/>
          </a:xfrm>
          <a:custGeom>
            <a:avLst/>
            <a:gdLst/>
            <a:ahLst/>
            <a:cxnLst/>
            <a:rect l="l" t="t" r="r" b="b"/>
            <a:pathLst>
              <a:path w="1828800" h="1545587">
                <a:moveTo>
                  <a:pt x="0" y="0"/>
                </a:moveTo>
                <a:lnTo>
                  <a:pt x="1828800" y="0"/>
                </a:lnTo>
                <a:lnTo>
                  <a:pt x="1828800" y="1545587"/>
                </a:lnTo>
                <a:lnTo>
                  <a:pt x="0" y="1545587"/>
                </a:lnTo>
                <a:lnTo>
                  <a:pt x="0" y="0"/>
                </a:lnTo>
                <a:close/>
              </a:path>
            </a:pathLst>
          </a:custGeom>
          <a:blipFill>
            <a:blip r:embed="rId8"/>
            <a:stretch>
              <a:fillRect t="-4850" b="-13473"/>
            </a:stretch>
          </a:blipFill>
        </p:spPr>
      </p:sp>
      <p:sp>
        <p:nvSpPr>
          <p:cNvPr id="8" name="Freeform 8"/>
          <p:cNvSpPr/>
          <p:nvPr/>
        </p:nvSpPr>
        <p:spPr>
          <a:xfrm>
            <a:off x="16506439" y="97451"/>
            <a:ext cx="1505722" cy="1480182"/>
          </a:xfrm>
          <a:custGeom>
            <a:avLst/>
            <a:gdLst/>
            <a:ahLst/>
            <a:cxnLst/>
            <a:rect l="l" t="t" r="r" b="b"/>
            <a:pathLst>
              <a:path w="1505722" h="1480182">
                <a:moveTo>
                  <a:pt x="0" y="0"/>
                </a:moveTo>
                <a:lnTo>
                  <a:pt x="1505722" y="0"/>
                </a:lnTo>
                <a:lnTo>
                  <a:pt x="1505722" y="1480182"/>
                </a:lnTo>
                <a:lnTo>
                  <a:pt x="0" y="1480182"/>
                </a:lnTo>
                <a:lnTo>
                  <a:pt x="0" y="0"/>
                </a:lnTo>
                <a:close/>
              </a:path>
            </a:pathLst>
          </a:custGeom>
          <a:blipFill>
            <a:blip r:embed="rId9"/>
            <a:stretch>
              <a:fillRect l="-627" t="-414" b="-414"/>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281</Words>
  <Application>Microsoft Office PowerPoint</Application>
  <PresentationFormat>Custom</PresentationFormat>
  <Paragraphs>64</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Canva Sans Bold</vt:lpstr>
      <vt:lpstr>Arial</vt:lpstr>
      <vt:lpstr>Hussar Bold</vt:lpstr>
      <vt:lpstr>Calibri</vt:lpstr>
      <vt:lpstr>Poppins Bold</vt:lpstr>
      <vt:lpstr>Canva Sans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consectetur adipiscing elit. Maecenas scelerisque sapien quam, et ornare tortor faucibus at. Nullam elementum dolor quis mollis eleifend. Sed in tempus quam. Donec augue tortor, suscipit sit amet cursus in, maximus sit amet</dc:title>
  <dc:creator>NANDIKA</dc:creator>
  <cp:lastModifiedBy>NANDINI PARSAD</cp:lastModifiedBy>
  <cp:revision>2</cp:revision>
  <dcterms:created xsi:type="dcterms:W3CDTF">2006-08-16T00:00:00Z</dcterms:created>
  <dcterms:modified xsi:type="dcterms:W3CDTF">2026-04-21T23:46:24Z</dcterms:modified>
  <dc:identifier>DAHHLSyXb68</dc:identifier>
</cp:coreProperties>
</file>