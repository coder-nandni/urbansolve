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panose="020B0604020202020204" charset="0"/>
      <p:regular r:id="rId12"/>
    </p:embeddedFont>
    <p:embeddedFont>
      <p:font typeface="Canva Sans Bold" panose="020B0604020202020204" charset="0"/>
      <p:regular r:id="rId13"/>
    </p:embeddedFont>
    <p:embeddedFont>
      <p:font typeface="Hussar Bold" panose="020B0604020202020204" charset="0"/>
      <p:regular r:id="rId14"/>
    </p:embeddedFont>
    <p:embeddedFont>
      <p:font typeface="Poppins" panose="00000500000000000000" pitchFamily="2" charset="0"/>
      <p:regular r:id="rId15"/>
    </p:embeddedFont>
    <p:embeddedFont>
      <p:font typeface="Poppins Bold" panose="00000800000000000000"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7.png"/><Relationship Id="rId4" Type="http://schemas.openxmlformats.org/officeDocument/2006/relationships/image" Target="../media/image2.sv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9.sv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2480095" y="852113"/>
            <a:ext cx="12879297" cy="8693526"/>
          </a:xfrm>
          <a:custGeom>
            <a:avLst/>
            <a:gdLst/>
            <a:ahLst/>
            <a:cxnLst/>
            <a:rect l="l" t="t" r="r" b="b"/>
            <a:pathLst>
              <a:path w="12879297" h="8693526">
                <a:moveTo>
                  <a:pt x="0" y="0"/>
                </a:moveTo>
                <a:lnTo>
                  <a:pt x="12879297" y="0"/>
                </a:lnTo>
                <a:lnTo>
                  <a:pt x="12879297" y="8693525"/>
                </a:lnTo>
                <a:lnTo>
                  <a:pt x="0" y="8693525"/>
                </a:lnTo>
                <a:lnTo>
                  <a:pt x="0" y="0"/>
                </a:lnTo>
                <a:close/>
              </a:path>
            </a:pathLst>
          </a:custGeom>
          <a:blipFill>
            <a:blip r:embed="rId4"/>
            <a:stretch>
              <a:fillRect/>
            </a:stretch>
          </a:blipFill>
        </p:spPr>
      </p:sp>
      <p:sp>
        <p:nvSpPr>
          <p:cNvPr id="4" name="Freeform 4"/>
          <p:cNvSpPr/>
          <p:nvPr/>
        </p:nvSpPr>
        <p:spPr>
          <a:xfrm>
            <a:off x="7825316" y="2686579"/>
            <a:ext cx="2489109" cy="1658369"/>
          </a:xfrm>
          <a:custGeom>
            <a:avLst/>
            <a:gdLst/>
            <a:ahLst/>
            <a:cxnLst/>
            <a:rect l="l" t="t" r="r" b="b"/>
            <a:pathLst>
              <a:path w="2489109" h="1658369">
                <a:moveTo>
                  <a:pt x="0" y="0"/>
                </a:moveTo>
                <a:lnTo>
                  <a:pt x="2489109" y="0"/>
                </a:lnTo>
                <a:lnTo>
                  <a:pt x="2489109" y="1658369"/>
                </a:lnTo>
                <a:lnTo>
                  <a:pt x="0" y="1658369"/>
                </a:lnTo>
                <a:lnTo>
                  <a:pt x="0" y="0"/>
                </a:lnTo>
                <a:close/>
              </a:path>
            </a:pathLst>
          </a:custGeom>
          <a:blipFill>
            <a:blip r:embed="rId5"/>
            <a:stretch>
              <a:fillRect/>
            </a:stretch>
          </a:blipFill>
        </p:spPr>
      </p:sp>
      <p:sp>
        <p:nvSpPr>
          <p:cNvPr id="5" name="Freeform 5"/>
          <p:cNvSpPr/>
          <p:nvPr/>
        </p:nvSpPr>
        <p:spPr>
          <a:xfrm>
            <a:off x="231605" y="-267328"/>
            <a:ext cx="1865096" cy="1865096"/>
          </a:xfrm>
          <a:custGeom>
            <a:avLst/>
            <a:gdLst/>
            <a:ahLst/>
            <a:cxnLst/>
            <a:rect l="l" t="t" r="r" b="b"/>
            <a:pathLst>
              <a:path w="1865096" h="1865096">
                <a:moveTo>
                  <a:pt x="0" y="0"/>
                </a:moveTo>
                <a:lnTo>
                  <a:pt x="1865095" y="0"/>
                </a:lnTo>
                <a:lnTo>
                  <a:pt x="1865095" y="1865095"/>
                </a:lnTo>
                <a:lnTo>
                  <a:pt x="0" y="1865095"/>
                </a:lnTo>
                <a:lnTo>
                  <a:pt x="0" y="0"/>
                </a:lnTo>
                <a:close/>
              </a:path>
            </a:pathLst>
          </a:custGeom>
          <a:blipFill>
            <a:blip r:embed="rId6"/>
            <a:stretch>
              <a:fillRect/>
            </a:stretch>
          </a:blipFill>
        </p:spPr>
      </p:sp>
      <p:sp>
        <p:nvSpPr>
          <p:cNvPr id="6" name="Freeform 6"/>
          <p:cNvSpPr/>
          <p:nvPr/>
        </p:nvSpPr>
        <p:spPr>
          <a:xfrm>
            <a:off x="8073059" y="-95603"/>
            <a:ext cx="1693370" cy="1693370"/>
          </a:xfrm>
          <a:custGeom>
            <a:avLst/>
            <a:gdLst/>
            <a:ahLst/>
            <a:cxnLst/>
            <a:rect l="l" t="t" r="r" b="b"/>
            <a:pathLst>
              <a:path w="1693370" h="1693370">
                <a:moveTo>
                  <a:pt x="0" y="0"/>
                </a:moveTo>
                <a:lnTo>
                  <a:pt x="1693370" y="0"/>
                </a:lnTo>
                <a:lnTo>
                  <a:pt x="1693370" y="1693370"/>
                </a:lnTo>
                <a:lnTo>
                  <a:pt x="0" y="1693370"/>
                </a:lnTo>
                <a:lnTo>
                  <a:pt x="0" y="0"/>
                </a:lnTo>
                <a:close/>
              </a:path>
            </a:pathLst>
          </a:custGeom>
          <a:blipFill>
            <a:blip r:embed="rId7"/>
            <a:stretch>
              <a:fillRect/>
            </a:stretch>
          </a:blipFill>
        </p:spPr>
      </p:sp>
      <p:sp>
        <p:nvSpPr>
          <p:cNvPr id="7" name="Freeform 7"/>
          <p:cNvSpPr/>
          <p:nvPr/>
        </p:nvSpPr>
        <p:spPr>
          <a:xfrm>
            <a:off x="16194411" y="106458"/>
            <a:ext cx="1514020" cy="1491309"/>
          </a:xfrm>
          <a:custGeom>
            <a:avLst/>
            <a:gdLst/>
            <a:ahLst/>
            <a:cxnLst/>
            <a:rect l="l" t="t" r="r" b="b"/>
            <a:pathLst>
              <a:path w="1514020" h="1491309">
                <a:moveTo>
                  <a:pt x="0" y="0"/>
                </a:moveTo>
                <a:lnTo>
                  <a:pt x="1514019" y="0"/>
                </a:lnTo>
                <a:lnTo>
                  <a:pt x="1514019" y="1491309"/>
                </a:lnTo>
                <a:lnTo>
                  <a:pt x="0" y="1491309"/>
                </a:lnTo>
                <a:lnTo>
                  <a:pt x="0" y="0"/>
                </a:lnTo>
                <a:close/>
              </a:path>
            </a:pathLst>
          </a:custGeom>
          <a:blipFill>
            <a:blip r:embed="rId8"/>
            <a:stretch>
              <a:fillRect/>
            </a:stretch>
          </a:blipFill>
        </p:spPr>
      </p:sp>
      <p:sp>
        <p:nvSpPr>
          <p:cNvPr id="8" name="TextBox 8"/>
          <p:cNvSpPr txBox="1"/>
          <p:nvPr/>
        </p:nvSpPr>
        <p:spPr>
          <a:xfrm>
            <a:off x="6567892" y="1837324"/>
            <a:ext cx="4703703" cy="941103"/>
          </a:xfrm>
          <a:prstGeom prst="rect">
            <a:avLst/>
          </a:prstGeom>
        </p:spPr>
        <p:txBody>
          <a:bodyPr lIns="0" tIns="0" rIns="0" bIns="0" rtlCol="0" anchor="t">
            <a:spAutoFit/>
          </a:bodyPr>
          <a:lstStyle/>
          <a:p>
            <a:pPr algn="ctr">
              <a:lnSpc>
                <a:spcPts val="7335"/>
              </a:lnSpc>
              <a:spcBef>
                <a:spcPct val="0"/>
              </a:spcBef>
            </a:pPr>
            <a:r>
              <a:rPr lang="en-US" sz="5239" b="1">
                <a:solidFill>
                  <a:srgbClr val="0C1513"/>
                </a:solidFill>
                <a:latin typeface="Poppins Bold"/>
                <a:ea typeface="Poppins Bold"/>
                <a:cs typeface="Poppins Bold"/>
                <a:sym typeface="Poppins Bold"/>
              </a:rPr>
              <a:t>URBAN SOLVE</a:t>
            </a:r>
          </a:p>
        </p:txBody>
      </p:sp>
      <p:sp>
        <p:nvSpPr>
          <p:cNvPr id="9" name="TextBox 9"/>
          <p:cNvSpPr txBox="1"/>
          <p:nvPr/>
        </p:nvSpPr>
        <p:spPr>
          <a:xfrm>
            <a:off x="5134768" y="7381424"/>
            <a:ext cx="7870206" cy="606916"/>
          </a:xfrm>
          <a:prstGeom prst="rect">
            <a:avLst/>
          </a:prstGeom>
        </p:spPr>
        <p:txBody>
          <a:bodyPr lIns="0" tIns="0" rIns="0" bIns="0" rtlCol="0" anchor="t">
            <a:spAutoFit/>
          </a:bodyPr>
          <a:lstStyle/>
          <a:p>
            <a:pPr algn="ctr">
              <a:lnSpc>
                <a:spcPts val="4806"/>
              </a:lnSpc>
              <a:spcBef>
                <a:spcPct val="0"/>
              </a:spcBef>
            </a:pPr>
            <a:r>
              <a:rPr lang="en-US" sz="3432" b="1">
                <a:solidFill>
                  <a:srgbClr val="0C1513"/>
                </a:solidFill>
                <a:latin typeface="Poppins Bold"/>
                <a:ea typeface="Poppins Bold"/>
                <a:cs typeface="Poppins Bold"/>
                <a:sym typeface="Poppins Bold"/>
              </a:rPr>
              <a:t>Presented by Code Crushers</a:t>
            </a:r>
          </a:p>
        </p:txBody>
      </p:sp>
      <p:sp>
        <p:nvSpPr>
          <p:cNvPr id="10" name="TextBox 10"/>
          <p:cNvSpPr txBox="1"/>
          <p:nvPr/>
        </p:nvSpPr>
        <p:spPr>
          <a:xfrm>
            <a:off x="2705907" y="3953959"/>
            <a:ext cx="12035385" cy="835210"/>
          </a:xfrm>
          <a:prstGeom prst="rect">
            <a:avLst/>
          </a:prstGeom>
        </p:spPr>
        <p:txBody>
          <a:bodyPr lIns="0" tIns="0" rIns="0" bIns="0" rtlCol="0" anchor="t">
            <a:spAutoFit/>
          </a:bodyPr>
          <a:lstStyle/>
          <a:p>
            <a:pPr algn="ctr">
              <a:lnSpc>
                <a:spcPts val="6802"/>
              </a:lnSpc>
            </a:pPr>
            <a:r>
              <a:rPr lang="en-US" sz="4859" b="1">
                <a:solidFill>
                  <a:srgbClr val="0C1513"/>
                </a:solidFill>
                <a:latin typeface="Canva Sans Bold"/>
                <a:ea typeface="Canva Sans Bold"/>
                <a:cs typeface="Canva Sans Bold"/>
                <a:sym typeface="Canva Sans Bold"/>
              </a:rPr>
              <a:t>Team Id : CC3H-223</a:t>
            </a:r>
          </a:p>
        </p:txBody>
      </p:sp>
      <p:sp>
        <p:nvSpPr>
          <p:cNvPr id="11" name="TextBox 11"/>
          <p:cNvSpPr txBox="1"/>
          <p:nvPr/>
        </p:nvSpPr>
        <p:spPr>
          <a:xfrm>
            <a:off x="3127863" y="4994797"/>
            <a:ext cx="11191472" cy="773799"/>
          </a:xfrm>
          <a:prstGeom prst="rect">
            <a:avLst/>
          </a:prstGeom>
        </p:spPr>
        <p:txBody>
          <a:bodyPr lIns="0" tIns="0" rIns="0" bIns="0" rtlCol="0" anchor="t">
            <a:spAutoFit/>
          </a:bodyPr>
          <a:lstStyle/>
          <a:p>
            <a:pPr algn="ctr">
              <a:lnSpc>
                <a:spcPts val="6325"/>
              </a:lnSpc>
            </a:pPr>
            <a:r>
              <a:rPr lang="en-US" sz="4518" b="1">
                <a:solidFill>
                  <a:srgbClr val="0C1513"/>
                </a:solidFill>
                <a:latin typeface="Canva Sans Bold"/>
                <a:ea typeface="Canva Sans Bold"/>
                <a:cs typeface="Canva Sans Bold"/>
                <a:sym typeface="Canva Sans Bold"/>
              </a:rPr>
              <a:t>Team Name : Code Crushers</a:t>
            </a:r>
          </a:p>
        </p:txBody>
      </p:sp>
      <p:sp>
        <p:nvSpPr>
          <p:cNvPr id="12" name="TextBox 12"/>
          <p:cNvSpPr txBox="1"/>
          <p:nvPr/>
        </p:nvSpPr>
        <p:spPr>
          <a:xfrm>
            <a:off x="562622" y="6032276"/>
            <a:ext cx="11701106" cy="1063397"/>
          </a:xfrm>
          <a:prstGeom prst="rect">
            <a:avLst/>
          </a:prstGeom>
        </p:spPr>
        <p:txBody>
          <a:bodyPr lIns="0" tIns="0" rIns="0" bIns="0" rtlCol="0" anchor="t">
            <a:spAutoFit/>
          </a:bodyPr>
          <a:lstStyle/>
          <a:p>
            <a:pPr marL="0" lvl="0" indent="0" algn="ctr">
              <a:lnSpc>
                <a:spcPts val="4324"/>
              </a:lnSpc>
              <a:spcBef>
                <a:spcPct val="0"/>
              </a:spcBef>
            </a:pPr>
            <a:r>
              <a:rPr lang="en-US" sz="3088" b="1" u="none" strike="noStrike">
                <a:solidFill>
                  <a:srgbClr val="EE773B"/>
                </a:solidFill>
                <a:latin typeface="Canva Sans Bold"/>
                <a:ea typeface="Canva Sans Bold"/>
                <a:cs typeface="Canva Sans Bold"/>
                <a:sym typeface="Canva Sans Bold"/>
              </a:rPr>
              <a:t>Team Leader </a:t>
            </a:r>
          </a:p>
          <a:p>
            <a:pPr marL="0" lvl="0" indent="0" algn="ctr">
              <a:lnSpc>
                <a:spcPts val="4324"/>
              </a:lnSpc>
              <a:spcBef>
                <a:spcPct val="0"/>
              </a:spcBef>
            </a:pPr>
            <a:r>
              <a:rPr lang="en-US" sz="3088" u="none" strike="noStrike">
                <a:solidFill>
                  <a:srgbClr val="0C1513"/>
                </a:solidFill>
                <a:latin typeface="Canva Sans"/>
                <a:ea typeface="Canva Sans"/>
                <a:cs typeface="Canva Sans"/>
                <a:sym typeface="Canva Sans"/>
              </a:rPr>
              <a:t>Nandni</a:t>
            </a:r>
          </a:p>
        </p:txBody>
      </p:sp>
      <p:sp>
        <p:nvSpPr>
          <p:cNvPr id="13" name="TextBox 13"/>
          <p:cNvSpPr txBox="1"/>
          <p:nvPr/>
        </p:nvSpPr>
        <p:spPr>
          <a:xfrm>
            <a:off x="7048788" y="5993275"/>
            <a:ext cx="8903294" cy="1102398"/>
          </a:xfrm>
          <a:prstGeom prst="rect">
            <a:avLst/>
          </a:prstGeom>
        </p:spPr>
        <p:txBody>
          <a:bodyPr lIns="0" tIns="0" rIns="0" bIns="0" rtlCol="0" anchor="t">
            <a:spAutoFit/>
          </a:bodyPr>
          <a:lstStyle/>
          <a:p>
            <a:pPr algn="ctr">
              <a:lnSpc>
                <a:spcPts val="4426"/>
              </a:lnSpc>
            </a:pPr>
            <a:r>
              <a:rPr lang="en-US" sz="3161" b="1">
                <a:solidFill>
                  <a:srgbClr val="EE773B"/>
                </a:solidFill>
                <a:latin typeface="Canva Sans Bold"/>
                <a:ea typeface="Canva Sans Bold"/>
                <a:cs typeface="Canva Sans Bold"/>
                <a:sym typeface="Canva Sans Bold"/>
              </a:rPr>
              <a:t>Team Members</a:t>
            </a:r>
          </a:p>
          <a:p>
            <a:pPr algn="ctr">
              <a:lnSpc>
                <a:spcPts val="4426"/>
              </a:lnSpc>
            </a:pPr>
            <a:r>
              <a:rPr lang="en-US" sz="3161">
                <a:solidFill>
                  <a:srgbClr val="0C1513"/>
                </a:solidFill>
                <a:latin typeface="Canva Sans"/>
                <a:ea typeface="Canva Sans"/>
                <a:cs typeface="Canva Sans"/>
                <a:sym typeface="Canva Sans"/>
              </a:rPr>
              <a:t>Nandini,Khushi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5400000">
            <a:off x="13440972" y="-1054589"/>
            <a:ext cx="3792439" cy="5901617"/>
          </a:xfrm>
          <a:custGeom>
            <a:avLst/>
            <a:gdLst/>
            <a:ahLst/>
            <a:cxnLst/>
            <a:rect l="l" t="t" r="r" b="b"/>
            <a:pathLst>
              <a:path w="3792439" h="5901617">
                <a:moveTo>
                  <a:pt x="0" y="0"/>
                </a:moveTo>
                <a:lnTo>
                  <a:pt x="3792439" y="0"/>
                </a:lnTo>
                <a:lnTo>
                  <a:pt x="3792439" y="5901617"/>
                </a:lnTo>
                <a:lnTo>
                  <a:pt x="0" y="590161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61575" y="814386"/>
            <a:ext cx="9184658" cy="9173177"/>
          </a:xfrm>
          <a:custGeom>
            <a:avLst/>
            <a:gdLst/>
            <a:ahLst/>
            <a:cxnLst/>
            <a:rect l="l" t="t" r="r" b="b"/>
            <a:pathLst>
              <a:path w="9184658" h="9173177">
                <a:moveTo>
                  <a:pt x="0" y="0"/>
                </a:moveTo>
                <a:lnTo>
                  <a:pt x="9184658" y="0"/>
                </a:lnTo>
                <a:lnTo>
                  <a:pt x="9184658" y="9173177"/>
                </a:lnTo>
                <a:lnTo>
                  <a:pt x="0" y="9173177"/>
                </a:lnTo>
                <a:lnTo>
                  <a:pt x="0" y="0"/>
                </a:lnTo>
                <a:close/>
              </a:path>
            </a:pathLst>
          </a:custGeom>
          <a:blipFill>
            <a:blip r:embed="rId6"/>
            <a:stretch>
              <a:fillRect/>
            </a:stretch>
          </a:blipFill>
        </p:spPr>
      </p:sp>
      <p:sp>
        <p:nvSpPr>
          <p:cNvPr id="6" name="Freeform 6"/>
          <p:cNvSpPr/>
          <p:nvPr/>
        </p:nvSpPr>
        <p:spPr>
          <a:xfrm>
            <a:off x="11513669" y="0"/>
            <a:ext cx="6774331" cy="10287000"/>
          </a:xfrm>
          <a:custGeom>
            <a:avLst/>
            <a:gdLst/>
            <a:ahLst/>
            <a:cxnLst/>
            <a:rect l="l" t="t" r="r" b="b"/>
            <a:pathLst>
              <a:path w="6774331" h="10287000">
                <a:moveTo>
                  <a:pt x="0" y="0"/>
                </a:moveTo>
                <a:lnTo>
                  <a:pt x="6774331" y="0"/>
                </a:lnTo>
                <a:lnTo>
                  <a:pt x="6774331" y="10287000"/>
                </a:lnTo>
                <a:lnTo>
                  <a:pt x="0" y="10287000"/>
                </a:lnTo>
                <a:lnTo>
                  <a:pt x="0" y="0"/>
                </a:lnTo>
                <a:close/>
              </a:path>
            </a:pathLst>
          </a:custGeom>
          <a:blipFill>
            <a:blip r:embed="rId7"/>
            <a:stretch>
              <a:fillRect l="-10663" r="-10818"/>
            </a:stretch>
          </a:blipFill>
        </p:spPr>
      </p:sp>
      <p:sp>
        <p:nvSpPr>
          <p:cNvPr id="7" name="TextBox 7"/>
          <p:cNvSpPr txBox="1"/>
          <p:nvPr/>
        </p:nvSpPr>
        <p:spPr>
          <a:xfrm>
            <a:off x="2629305" y="2760251"/>
            <a:ext cx="6514695" cy="1044947"/>
          </a:xfrm>
          <a:prstGeom prst="rect">
            <a:avLst/>
          </a:prstGeom>
        </p:spPr>
        <p:txBody>
          <a:bodyPr lIns="0" tIns="0" rIns="0" bIns="0" rtlCol="0" anchor="t">
            <a:spAutoFit/>
          </a:bodyPr>
          <a:lstStyle/>
          <a:p>
            <a:pPr algn="ctr">
              <a:lnSpc>
                <a:spcPts val="8512"/>
              </a:lnSpc>
              <a:spcBef>
                <a:spcPct val="0"/>
              </a:spcBef>
            </a:pPr>
            <a:r>
              <a:rPr lang="en-US" sz="6080">
                <a:solidFill>
                  <a:srgbClr val="263C40"/>
                </a:solidFill>
                <a:latin typeface="Hussar Bold"/>
                <a:ea typeface="Hussar Bold"/>
                <a:cs typeface="Hussar Bold"/>
                <a:sym typeface="Hussar Bold"/>
              </a:rPr>
              <a:t>Introduction</a:t>
            </a:r>
          </a:p>
        </p:txBody>
      </p:sp>
      <p:sp>
        <p:nvSpPr>
          <p:cNvPr id="8" name="TextBox 8"/>
          <p:cNvSpPr txBox="1"/>
          <p:nvPr/>
        </p:nvSpPr>
        <p:spPr>
          <a:xfrm>
            <a:off x="2157182" y="5076825"/>
            <a:ext cx="6793444" cy="3946525"/>
          </a:xfrm>
          <a:prstGeom prst="rect">
            <a:avLst/>
          </a:prstGeom>
        </p:spPr>
        <p:txBody>
          <a:bodyPr lIns="0" tIns="0" rIns="0" bIns="0" rtlCol="0" anchor="t">
            <a:spAutoFit/>
          </a:bodyPr>
          <a:lstStyle/>
          <a:p>
            <a:pPr algn="l">
              <a:lnSpc>
                <a:spcPts val="3499"/>
              </a:lnSpc>
              <a:spcBef>
                <a:spcPct val="0"/>
              </a:spcBef>
            </a:pPr>
            <a:r>
              <a:rPr lang="en-US" sz="2499">
                <a:solidFill>
                  <a:srgbClr val="263C40"/>
                </a:solidFill>
                <a:latin typeface="Poppins"/>
                <a:ea typeface="Poppins"/>
                <a:cs typeface="Poppins"/>
                <a:sym typeface="Poppins"/>
              </a:rPr>
              <a:t>Urbanization has led to increasing challenges like traffic, pollution, and waste management. Existing systems to handle these issues are often slow and inefficient.</a:t>
            </a:r>
          </a:p>
          <a:p>
            <a:pPr algn="l">
              <a:lnSpc>
                <a:spcPts val="3499"/>
              </a:lnSpc>
              <a:spcBef>
                <a:spcPct val="0"/>
              </a:spcBef>
            </a:pPr>
            <a:r>
              <a:rPr lang="en-US" sz="2499">
                <a:solidFill>
                  <a:srgbClr val="263C40"/>
                </a:solidFill>
                <a:latin typeface="Poppins"/>
                <a:ea typeface="Poppins"/>
                <a:cs typeface="Poppins"/>
                <a:sym typeface="Poppins"/>
              </a:rPr>
              <a:t>The Urban Problem Management System is a digital platform that enables citizens to report problems easily and helps authorities resolve them quickly.</a:t>
            </a:r>
          </a:p>
          <a:p>
            <a:pPr algn="l">
              <a:lnSpc>
                <a:spcPts val="3499"/>
              </a:lnSpc>
              <a:spcBef>
                <a:spcPct val="0"/>
              </a:spcBef>
            </a:pPr>
            <a:endParaRPr lang="en-US" sz="2499">
              <a:solidFill>
                <a:srgbClr val="263C40"/>
              </a:solidFill>
              <a:latin typeface="Poppins"/>
              <a:ea typeface="Poppins"/>
              <a:cs typeface="Poppins"/>
              <a:sym typeface="Poppins"/>
            </a:endParaRPr>
          </a:p>
        </p:txBody>
      </p:sp>
      <p:sp>
        <p:nvSpPr>
          <p:cNvPr id="9" name="TextBox 9"/>
          <p:cNvSpPr txBox="1"/>
          <p:nvPr/>
        </p:nvSpPr>
        <p:spPr>
          <a:xfrm>
            <a:off x="3497837" y="3612434"/>
            <a:ext cx="4758515" cy="347428"/>
          </a:xfrm>
          <a:prstGeom prst="rect">
            <a:avLst/>
          </a:prstGeom>
        </p:spPr>
        <p:txBody>
          <a:bodyPr lIns="0" tIns="0" rIns="0" bIns="0" rtlCol="0" anchor="t">
            <a:spAutoFit/>
          </a:bodyPr>
          <a:lstStyle/>
          <a:p>
            <a:pPr algn="ctr">
              <a:lnSpc>
                <a:spcPts val="2900"/>
              </a:lnSpc>
            </a:pPr>
            <a:endParaRPr/>
          </a:p>
        </p:txBody>
      </p:sp>
      <p:sp>
        <p:nvSpPr>
          <p:cNvPr id="10" name="TextBox 10"/>
          <p:cNvSpPr txBox="1"/>
          <p:nvPr/>
        </p:nvSpPr>
        <p:spPr>
          <a:xfrm>
            <a:off x="1804139" y="3738523"/>
            <a:ext cx="7146487" cy="1056928"/>
          </a:xfrm>
          <a:prstGeom prst="rect">
            <a:avLst/>
          </a:prstGeom>
        </p:spPr>
        <p:txBody>
          <a:bodyPr lIns="0" tIns="0" rIns="0" bIns="0" rtlCol="0" anchor="t">
            <a:spAutoFit/>
          </a:bodyPr>
          <a:lstStyle/>
          <a:p>
            <a:pPr algn="ctr">
              <a:lnSpc>
                <a:spcPts val="5059"/>
              </a:lnSpc>
            </a:pPr>
            <a:r>
              <a:rPr lang="en-US" sz="3613" b="1">
                <a:solidFill>
                  <a:srgbClr val="263C40"/>
                </a:solidFill>
                <a:latin typeface="Canva Sans Bold"/>
                <a:ea typeface="Canva Sans Bold"/>
                <a:cs typeface="Canva Sans Bold"/>
                <a:sym typeface="Canva Sans Bold"/>
              </a:rPr>
              <a:t>UrbanSolve  </a:t>
            </a:r>
          </a:p>
          <a:p>
            <a:pPr algn="ctr">
              <a:lnSpc>
                <a:spcPts val="3379"/>
              </a:lnSpc>
            </a:pPr>
            <a:r>
              <a:rPr lang="en-US" sz="2413" b="1">
                <a:solidFill>
                  <a:srgbClr val="263C40"/>
                </a:solidFill>
                <a:latin typeface="Canva Sans Bold"/>
                <a:ea typeface="Canva Sans Bold"/>
                <a:cs typeface="Canva Sans Bold"/>
                <a:sym typeface="Canva Sans Bold"/>
              </a:rPr>
              <a:t>City Problem Management System</a:t>
            </a:r>
          </a:p>
        </p:txBody>
      </p:sp>
      <p:sp>
        <p:nvSpPr>
          <p:cNvPr id="11" name="Freeform 11"/>
          <p:cNvSpPr/>
          <p:nvPr/>
        </p:nvSpPr>
        <p:spPr>
          <a:xfrm>
            <a:off x="794093" y="-112524"/>
            <a:ext cx="1658719" cy="1711879"/>
          </a:xfrm>
          <a:custGeom>
            <a:avLst/>
            <a:gdLst/>
            <a:ahLst/>
            <a:cxnLst/>
            <a:rect l="l" t="t" r="r" b="b"/>
            <a:pathLst>
              <a:path w="1658719" h="1711879">
                <a:moveTo>
                  <a:pt x="0" y="0"/>
                </a:moveTo>
                <a:lnTo>
                  <a:pt x="1658719" y="0"/>
                </a:lnTo>
                <a:lnTo>
                  <a:pt x="1658719" y="1711879"/>
                </a:lnTo>
                <a:lnTo>
                  <a:pt x="0" y="1711879"/>
                </a:lnTo>
                <a:lnTo>
                  <a:pt x="0" y="0"/>
                </a:lnTo>
                <a:close/>
              </a:path>
            </a:pathLst>
          </a:custGeom>
          <a:blipFill>
            <a:blip r:embed="rId8"/>
            <a:stretch>
              <a:fillRect l="-1602" r="-1602"/>
            </a:stretch>
          </a:blipFill>
        </p:spPr>
      </p:sp>
      <p:sp>
        <p:nvSpPr>
          <p:cNvPr id="12" name="Freeform 12"/>
          <p:cNvSpPr/>
          <p:nvPr/>
        </p:nvSpPr>
        <p:spPr>
          <a:xfrm>
            <a:off x="7630964" y="-13103"/>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9"/>
            <a:stretch>
              <a:fillRect/>
            </a:stretch>
          </a:blipFill>
        </p:spPr>
      </p:sp>
      <p:sp>
        <p:nvSpPr>
          <p:cNvPr id="13" name="Freeform 13"/>
          <p:cNvSpPr/>
          <p:nvPr/>
        </p:nvSpPr>
        <p:spPr>
          <a:xfrm>
            <a:off x="16745941" y="116669"/>
            <a:ext cx="1416684" cy="1395434"/>
          </a:xfrm>
          <a:custGeom>
            <a:avLst/>
            <a:gdLst/>
            <a:ahLst/>
            <a:cxnLst/>
            <a:rect l="l" t="t" r="r" b="b"/>
            <a:pathLst>
              <a:path w="1416684" h="1395434">
                <a:moveTo>
                  <a:pt x="0" y="0"/>
                </a:moveTo>
                <a:lnTo>
                  <a:pt x="1416684" y="0"/>
                </a:lnTo>
                <a:lnTo>
                  <a:pt x="1416684" y="1395434"/>
                </a:lnTo>
                <a:lnTo>
                  <a:pt x="0" y="1395434"/>
                </a:lnTo>
                <a:lnTo>
                  <a:pt x="0" y="0"/>
                </a:lnTo>
                <a:close/>
              </a:path>
            </a:pathLst>
          </a:custGeom>
          <a:blipFill>
            <a:blip r:embed="rId10"/>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a:off x="0" y="0"/>
            <a:ext cx="5702041" cy="10287000"/>
          </a:xfrm>
          <a:custGeom>
            <a:avLst/>
            <a:gdLst/>
            <a:ahLst/>
            <a:cxnLst/>
            <a:rect l="l" t="t" r="r" b="b"/>
            <a:pathLst>
              <a:path w="5702041" h="10287000">
                <a:moveTo>
                  <a:pt x="0" y="0"/>
                </a:moveTo>
                <a:lnTo>
                  <a:pt x="5702041" y="0"/>
                </a:lnTo>
                <a:lnTo>
                  <a:pt x="5702041" y="10287000"/>
                </a:lnTo>
                <a:lnTo>
                  <a:pt x="0" y="10287000"/>
                </a:lnTo>
                <a:lnTo>
                  <a:pt x="0" y="0"/>
                </a:lnTo>
                <a:close/>
              </a:path>
            </a:pathLst>
          </a:custGeom>
          <a:blipFill>
            <a:blip r:embed="rId2"/>
            <a:stretch>
              <a:fillRect l="-68202" r="-103089"/>
            </a:stretch>
          </a:blipFill>
        </p:spPr>
      </p:sp>
      <p:sp>
        <p:nvSpPr>
          <p:cNvPr id="3" name="Freeform 3"/>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5702041" y="796737"/>
            <a:ext cx="12879297" cy="8693526"/>
          </a:xfrm>
          <a:custGeom>
            <a:avLst/>
            <a:gdLst/>
            <a:ahLst/>
            <a:cxnLst/>
            <a:rect l="l" t="t" r="r" b="b"/>
            <a:pathLst>
              <a:path w="12879297" h="8693526">
                <a:moveTo>
                  <a:pt x="0" y="0"/>
                </a:moveTo>
                <a:lnTo>
                  <a:pt x="12879297" y="0"/>
                </a:lnTo>
                <a:lnTo>
                  <a:pt x="12879297" y="8693526"/>
                </a:lnTo>
                <a:lnTo>
                  <a:pt x="0" y="8693526"/>
                </a:lnTo>
                <a:lnTo>
                  <a:pt x="0" y="0"/>
                </a:lnTo>
                <a:close/>
              </a:path>
            </a:pathLst>
          </a:custGeom>
          <a:blipFill>
            <a:blip r:embed="rId7"/>
            <a:stretch>
              <a:fillRect/>
            </a:stretch>
          </a:blipFill>
        </p:spPr>
      </p:sp>
      <p:sp>
        <p:nvSpPr>
          <p:cNvPr id="6" name="TextBox 6"/>
          <p:cNvSpPr txBox="1"/>
          <p:nvPr/>
        </p:nvSpPr>
        <p:spPr>
          <a:xfrm>
            <a:off x="6596489" y="2267077"/>
            <a:ext cx="11314798" cy="1193800"/>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63C40"/>
                </a:solidFill>
                <a:latin typeface="Hussar Bold"/>
                <a:ea typeface="Hussar Bold"/>
                <a:cs typeface="Hussar Bold"/>
                <a:sym typeface="Hussar Bold"/>
              </a:rPr>
              <a:t>Pr</a:t>
            </a:r>
            <a:r>
              <a:rPr lang="en-US" sz="6999" b="1" u="none" strike="noStrike">
                <a:solidFill>
                  <a:srgbClr val="263C40"/>
                </a:solidFill>
                <a:latin typeface="Hussar Bold"/>
                <a:ea typeface="Hussar Bold"/>
                <a:cs typeface="Hussar Bold"/>
                <a:sym typeface="Hussar Bold"/>
              </a:rPr>
              <a:t>oblem Statement</a:t>
            </a:r>
          </a:p>
        </p:txBody>
      </p:sp>
      <p:sp>
        <p:nvSpPr>
          <p:cNvPr id="7" name="TextBox 7"/>
          <p:cNvSpPr txBox="1"/>
          <p:nvPr/>
        </p:nvSpPr>
        <p:spPr>
          <a:xfrm>
            <a:off x="7347890" y="3550951"/>
            <a:ext cx="9911410" cy="4946348"/>
          </a:xfrm>
          <a:prstGeom prst="rect">
            <a:avLst/>
          </a:prstGeom>
        </p:spPr>
        <p:txBody>
          <a:bodyPr lIns="0" tIns="0" rIns="0" bIns="0" rtlCol="0" anchor="t">
            <a:spAutoFit/>
          </a:bodyPr>
          <a:lstStyle/>
          <a:p>
            <a:pPr marL="607577" lvl="1" indent="-303789" algn="l">
              <a:lnSpc>
                <a:spcPts val="3939"/>
              </a:lnSpc>
              <a:spcBef>
                <a:spcPct val="0"/>
              </a:spcBef>
              <a:buFont typeface="Arial"/>
              <a:buChar char="•"/>
            </a:pPr>
            <a:r>
              <a:rPr lang="en-US" sz="2814">
                <a:solidFill>
                  <a:srgbClr val="263C40"/>
                </a:solidFill>
                <a:latin typeface="Poppins"/>
                <a:ea typeface="Poppins"/>
                <a:cs typeface="Poppins"/>
                <a:sym typeface="Poppins"/>
              </a:rPr>
              <a:t>Ra</a:t>
            </a:r>
            <a:r>
              <a:rPr lang="en-US" sz="2814" u="none" strike="noStrike">
                <a:solidFill>
                  <a:srgbClr val="263C40"/>
                </a:solidFill>
                <a:latin typeface="Poppins"/>
                <a:ea typeface="Poppins"/>
                <a:cs typeface="Poppins"/>
                <a:sym typeface="Poppins"/>
              </a:rPr>
              <a:t>pid urbanization has increased city-related issues</a:t>
            </a:r>
          </a:p>
          <a:p>
            <a:pPr marL="607577" lvl="1" indent="-303789" algn="l">
              <a:lnSpc>
                <a:spcPts val="3939"/>
              </a:lnSpc>
              <a:spcBef>
                <a:spcPct val="0"/>
              </a:spcBef>
              <a:buFont typeface="Arial"/>
              <a:buChar char="•"/>
            </a:pPr>
            <a:r>
              <a:rPr lang="en-US" sz="2814" u="none" strike="noStrike">
                <a:solidFill>
                  <a:srgbClr val="263C40"/>
                </a:solidFill>
                <a:latin typeface="Poppins"/>
                <a:ea typeface="Poppins"/>
                <a:cs typeface="Poppins"/>
                <a:sym typeface="Poppins"/>
              </a:rPr>
              <a:t>Citizens face difficulty in reporting problems efficiently</a:t>
            </a:r>
          </a:p>
          <a:p>
            <a:pPr marL="607577" lvl="1" indent="-303789" algn="l">
              <a:lnSpc>
                <a:spcPts val="3939"/>
              </a:lnSpc>
              <a:spcBef>
                <a:spcPct val="0"/>
              </a:spcBef>
              <a:buFont typeface="Arial"/>
              <a:buChar char="•"/>
            </a:pPr>
            <a:r>
              <a:rPr lang="en-US" sz="2814" u="none" strike="noStrike">
                <a:solidFill>
                  <a:srgbClr val="263C40"/>
                </a:solidFill>
                <a:latin typeface="Poppins"/>
                <a:ea typeface="Poppins"/>
                <a:cs typeface="Poppins"/>
                <a:sym typeface="Poppins"/>
              </a:rPr>
              <a:t>Lack of a centralized platform for complaint management</a:t>
            </a:r>
          </a:p>
          <a:p>
            <a:pPr marL="607577" lvl="1" indent="-303789" algn="l">
              <a:lnSpc>
                <a:spcPts val="3939"/>
              </a:lnSpc>
              <a:spcBef>
                <a:spcPct val="0"/>
              </a:spcBef>
              <a:buFont typeface="Arial"/>
              <a:buChar char="•"/>
            </a:pPr>
            <a:r>
              <a:rPr lang="en-US" sz="2814" u="none" strike="noStrike">
                <a:solidFill>
                  <a:srgbClr val="263C40"/>
                </a:solidFill>
                <a:latin typeface="Poppins"/>
                <a:ea typeface="Poppins"/>
                <a:cs typeface="Poppins"/>
                <a:sym typeface="Poppins"/>
              </a:rPr>
              <a:t>Delayed response from authorities</a:t>
            </a:r>
          </a:p>
          <a:p>
            <a:pPr marL="607577" lvl="1" indent="-303789" algn="l">
              <a:lnSpc>
                <a:spcPts val="3939"/>
              </a:lnSpc>
              <a:spcBef>
                <a:spcPct val="0"/>
              </a:spcBef>
              <a:buFont typeface="Arial"/>
              <a:buChar char="•"/>
            </a:pPr>
            <a:r>
              <a:rPr lang="en-US" sz="2814" u="none" strike="noStrike">
                <a:solidFill>
                  <a:srgbClr val="263C40"/>
                </a:solidFill>
                <a:latin typeface="Poppins"/>
                <a:ea typeface="Poppins"/>
                <a:cs typeface="Poppins"/>
                <a:sym typeface="Poppins"/>
              </a:rPr>
              <a:t>No proper tracking or transparency in issue resolution</a:t>
            </a:r>
          </a:p>
          <a:p>
            <a:pPr marL="0" lvl="0" indent="0" algn="l">
              <a:lnSpc>
                <a:spcPts val="3939"/>
              </a:lnSpc>
              <a:spcBef>
                <a:spcPct val="0"/>
              </a:spcBef>
            </a:pPr>
            <a:endParaRPr lang="en-US" sz="2814" u="none" strike="noStrike">
              <a:solidFill>
                <a:srgbClr val="263C40"/>
              </a:solidFill>
              <a:latin typeface="Poppins"/>
              <a:ea typeface="Poppins"/>
              <a:cs typeface="Poppins"/>
              <a:sym typeface="Poppins"/>
            </a:endParaRPr>
          </a:p>
        </p:txBody>
      </p:sp>
      <p:sp>
        <p:nvSpPr>
          <p:cNvPr id="8" name="Freeform 8"/>
          <p:cNvSpPr/>
          <p:nvPr/>
        </p:nvSpPr>
        <p:spPr>
          <a:xfrm>
            <a:off x="199304" y="0"/>
            <a:ext cx="1658793" cy="1711955"/>
          </a:xfrm>
          <a:custGeom>
            <a:avLst/>
            <a:gdLst/>
            <a:ahLst/>
            <a:cxnLst/>
            <a:rect l="l" t="t" r="r" b="b"/>
            <a:pathLst>
              <a:path w="1658793" h="1711955">
                <a:moveTo>
                  <a:pt x="0" y="0"/>
                </a:moveTo>
                <a:lnTo>
                  <a:pt x="1658792" y="0"/>
                </a:lnTo>
                <a:lnTo>
                  <a:pt x="1658792" y="1711955"/>
                </a:lnTo>
                <a:lnTo>
                  <a:pt x="0" y="1711955"/>
                </a:lnTo>
                <a:lnTo>
                  <a:pt x="0" y="0"/>
                </a:lnTo>
                <a:close/>
              </a:path>
            </a:pathLst>
          </a:custGeom>
          <a:blipFill>
            <a:blip r:embed="rId8"/>
            <a:stretch>
              <a:fillRect l="-1602" r="-1602"/>
            </a:stretch>
          </a:blipFill>
        </p:spPr>
      </p:sp>
      <p:sp>
        <p:nvSpPr>
          <p:cNvPr id="9" name="Freeform 9"/>
          <p:cNvSpPr/>
          <p:nvPr/>
        </p:nvSpPr>
        <p:spPr>
          <a:xfrm>
            <a:off x="9144000" y="-106948"/>
            <a:ext cx="1535159" cy="1535159"/>
          </a:xfrm>
          <a:custGeom>
            <a:avLst/>
            <a:gdLst/>
            <a:ahLst/>
            <a:cxnLst/>
            <a:rect l="l" t="t" r="r" b="b"/>
            <a:pathLst>
              <a:path w="1535159" h="1535159">
                <a:moveTo>
                  <a:pt x="0" y="0"/>
                </a:moveTo>
                <a:lnTo>
                  <a:pt x="1535159" y="0"/>
                </a:lnTo>
                <a:lnTo>
                  <a:pt x="1535159" y="1535159"/>
                </a:lnTo>
                <a:lnTo>
                  <a:pt x="0" y="1535159"/>
                </a:lnTo>
                <a:lnTo>
                  <a:pt x="0" y="0"/>
                </a:lnTo>
                <a:close/>
              </a:path>
            </a:pathLst>
          </a:custGeom>
          <a:blipFill>
            <a:blip r:embed="rId9"/>
            <a:stretch>
              <a:fillRect/>
            </a:stretch>
          </a:blipFill>
        </p:spPr>
      </p:sp>
      <p:sp>
        <p:nvSpPr>
          <p:cNvPr id="10" name="Freeform 10"/>
          <p:cNvSpPr/>
          <p:nvPr/>
        </p:nvSpPr>
        <p:spPr>
          <a:xfrm>
            <a:off x="16607312" y="19703"/>
            <a:ext cx="1303975" cy="1281858"/>
          </a:xfrm>
          <a:custGeom>
            <a:avLst/>
            <a:gdLst/>
            <a:ahLst/>
            <a:cxnLst/>
            <a:rect l="l" t="t" r="r" b="b"/>
            <a:pathLst>
              <a:path w="1303975" h="1281858">
                <a:moveTo>
                  <a:pt x="0" y="0"/>
                </a:moveTo>
                <a:lnTo>
                  <a:pt x="1303976" y="0"/>
                </a:lnTo>
                <a:lnTo>
                  <a:pt x="1303976" y="1281857"/>
                </a:lnTo>
                <a:lnTo>
                  <a:pt x="0" y="1281857"/>
                </a:lnTo>
                <a:lnTo>
                  <a:pt x="0" y="0"/>
                </a:lnTo>
                <a:close/>
              </a:path>
            </a:pathLst>
          </a:custGeom>
          <a:blipFill>
            <a:blip r:embed="rId10"/>
            <a:stretch>
              <a:fillRect l="-627" t="-414" b="-414"/>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704351"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6"/>
            <a:stretch>
              <a:fillRect/>
            </a:stretch>
          </a:blipFill>
        </p:spPr>
      </p:sp>
      <p:sp>
        <p:nvSpPr>
          <p:cNvPr id="5" name="TextBox 5"/>
          <p:cNvSpPr txBox="1"/>
          <p:nvPr/>
        </p:nvSpPr>
        <p:spPr>
          <a:xfrm>
            <a:off x="3657600" y="4700492"/>
            <a:ext cx="11513669" cy="3005231"/>
          </a:xfrm>
          <a:prstGeom prst="rect">
            <a:avLst/>
          </a:prstGeom>
        </p:spPr>
        <p:txBody>
          <a:bodyPr lIns="0" tIns="0" rIns="0" bIns="0" rtlCol="0" anchor="t">
            <a:spAutoFit/>
          </a:bodyPr>
          <a:lstStyle/>
          <a:p>
            <a:pPr marL="614252" lvl="1" indent="-307126" algn="l">
              <a:lnSpc>
                <a:spcPts val="3983"/>
              </a:lnSpc>
              <a:buFont typeface="Arial"/>
              <a:buChar char="•"/>
            </a:pPr>
            <a:r>
              <a:rPr lang="en-US" sz="2845">
                <a:solidFill>
                  <a:srgbClr val="263C40"/>
                </a:solidFill>
                <a:latin typeface="Poppins"/>
                <a:ea typeface="Poppins"/>
                <a:cs typeface="Poppins"/>
                <a:sym typeface="Poppins"/>
              </a:rPr>
              <a:t>A centralized digital platform for managing urban issues</a:t>
            </a:r>
          </a:p>
          <a:p>
            <a:pPr marL="614252" lvl="1" indent="-307126" algn="l">
              <a:lnSpc>
                <a:spcPts val="3983"/>
              </a:lnSpc>
              <a:buFont typeface="Arial"/>
              <a:buChar char="•"/>
            </a:pPr>
            <a:r>
              <a:rPr lang="en-US" sz="2845">
                <a:solidFill>
                  <a:srgbClr val="263C40"/>
                </a:solidFill>
                <a:latin typeface="Poppins"/>
                <a:ea typeface="Poppins"/>
                <a:cs typeface="Poppins"/>
                <a:sym typeface="Poppins"/>
              </a:rPr>
              <a:t>Enables citizens to report problems easily</a:t>
            </a:r>
          </a:p>
          <a:p>
            <a:pPr marL="614252" lvl="1" indent="-307126" algn="l">
              <a:lnSpc>
                <a:spcPts val="3983"/>
              </a:lnSpc>
              <a:spcBef>
                <a:spcPct val="0"/>
              </a:spcBef>
              <a:buFont typeface="Arial"/>
              <a:buChar char="•"/>
            </a:pPr>
            <a:r>
              <a:rPr lang="en-US" sz="2845">
                <a:solidFill>
                  <a:srgbClr val="263C40"/>
                </a:solidFill>
                <a:latin typeface="Poppins"/>
                <a:ea typeface="Poppins"/>
                <a:cs typeface="Poppins"/>
                <a:sym typeface="Poppins"/>
              </a:rPr>
              <a:t>Provides </a:t>
            </a:r>
            <a:r>
              <a:rPr lang="en-US" sz="2845" u="none" strike="noStrike">
                <a:solidFill>
                  <a:srgbClr val="263C40"/>
                </a:solidFill>
                <a:latin typeface="Poppins"/>
                <a:ea typeface="Poppins"/>
                <a:cs typeface="Poppins"/>
                <a:sym typeface="Poppins"/>
              </a:rPr>
              <a:t>real-time tracking of complaints</a:t>
            </a:r>
          </a:p>
          <a:p>
            <a:pPr marL="614252" lvl="1" indent="-307126" algn="l">
              <a:lnSpc>
                <a:spcPts val="3983"/>
              </a:lnSpc>
              <a:spcBef>
                <a:spcPct val="0"/>
              </a:spcBef>
              <a:buFont typeface="Arial"/>
              <a:buChar char="•"/>
            </a:pPr>
            <a:r>
              <a:rPr lang="en-US" sz="2845" u="none" strike="noStrike">
                <a:solidFill>
                  <a:srgbClr val="263C40"/>
                </a:solidFill>
                <a:latin typeface="Poppins"/>
                <a:ea typeface="Poppins"/>
                <a:cs typeface="Poppins"/>
                <a:sym typeface="Poppins"/>
              </a:rPr>
              <a:t>Connects users directly with authorities</a:t>
            </a:r>
          </a:p>
          <a:p>
            <a:pPr marL="614252" lvl="1" indent="-307126" algn="l">
              <a:lnSpc>
                <a:spcPts val="3983"/>
              </a:lnSpc>
              <a:spcBef>
                <a:spcPct val="0"/>
              </a:spcBef>
              <a:buFont typeface="Arial"/>
              <a:buChar char="•"/>
            </a:pPr>
            <a:r>
              <a:rPr lang="en-US" sz="2845" u="none" strike="noStrike">
                <a:solidFill>
                  <a:srgbClr val="263C40"/>
                </a:solidFill>
                <a:latin typeface="Poppins"/>
                <a:ea typeface="Poppins"/>
                <a:cs typeface="Poppins"/>
                <a:sym typeface="Poppins"/>
              </a:rPr>
              <a:t>Ensures faster and transparent resolution</a:t>
            </a:r>
          </a:p>
          <a:p>
            <a:pPr marL="0" lvl="0" indent="0" algn="l">
              <a:lnSpc>
                <a:spcPts val="3983"/>
              </a:lnSpc>
              <a:spcBef>
                <a:spcPct val="0"/>
              </a:spcBef>
            </a:pPr>
            <a:endParaRPr lang="en-US" sz="2845" u="none" strike="noStrike">
              <a:solidFill>
                <a:srgbClr val="263C40"/>
              </a:solidFill>
              <a:latin typeface="Poppins"/>
              <a:ea typeface="Poppins"/>
              <a:cs typeface="Poppins"/>
              <a:sym typeface="Poppins"/>
            </a:endParaRPr>
          </a:p>
        </p:txBody>
      </p:sp>
      <p:sp>
        <p:nvSpPr>
          <p:cNvPr id="6" name="TextBox 6"/>
          <p:cNvSpPr txBox="1"/>
          <p:nvPr/>
        </p:nvSpPr>
        <p:spPr>
          <a:xfrm>
            <a:off x="4085410" y="2917016"/>
            <a:ext cx="10117180" cy="1193800"/>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63C40"/>
                </a:solidFill>
                <a:latin typeface="Hussar Bold"/>
                <a:ea typeface="Hussar Bold"/>
                <a:cs typeface="Hussar Bold"/>
                <a:sym typeface="Hussar Bold"/>
              </a:rPr>
              <a:t>Propos</a:t>
            </a:r>
            <a:r>
              <a:rPr lang="en-US" sz="6999" b="1" u="none" strike="noStrike">
                <a:solidFill>
                  <a:srgbClr val="263C40"/>
                </a:solidFill>
                <a:latin typeface="Hussar Bold"/>
                <a:ea typeface="Hussar Bold"/>
                <a:cs typeface="Hussar Bold"/>
                <a:sym typeface="Hussar Bold"/>
              </a:rPr>
              <a:t>ed Solution</a:t>
            </a:r>
          </a:p>
        </p:txBody>
      </p:sp>
      <p:sp>
        <p:nvSpPr>
          <p:cNvPr id="7" name="Freeform 7"/>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8" name="Freeform 8"/>
          <p:cNvSpPr/>
          <p:nvPr/>
        </p:nvSpPr>
        <p:spPr>
          <a:xfrm>
            <a:off x="8607349" y="-21119"/>
            <a:ext cx="1828800" cy="1545587"/>
          </a:xfrm>
          <a:custGeom>
            <a:avLst/>
            <a:gdLst/>
            <a:ahLst/>
            <a:cxnLst/>
            <a:rect l="l" t="t" r="r" b="b"/>
            <a:pathLst>
              <a:path w="1828800" h="1545587">
                <a:moveTo>
                  <a:pt x="0" y="0"/>
                </a:moveTo>
                <a:lnTo>
                  <a:pt x="1828800" y="0"/>
                </a:lnTo>
                <a:lnTo>
                  <a:pt x="1828800" y="1545586"/>
                </a:lnTo>
                <a:lnTo>
                  <a:pt x="0" y="1545586"/>
                </a:lnTo>
                <a:lnTo>
                  <a:pt x="0" y="0"/>
                </a:lnTo>
                <a:close/>
              </a:path>
            </a:pathLst>
          </a:custGeom>
          <a:blipFill>
            <a:blip r:embed="rId8"/>
            <a:stretch>
              <a:fillRect t="-4850" b="-13473"/>
            </a:stretch>
          </a:blipFill>
        </p:spPr>
      </p:sp>
      <p:sp>
        <p:nvSpPr>
          <p:cNvPr id="9" name="Freeform 9"/>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073948" y="1113252"/>
            <a:ext cx="8697365" cy="8686493"/>
          </a:xfrm>
          <a:custGeom>
            <a:avLst/>
            <a:gdLst/>
            <a:ahLst/>
            <a:cxnLst/>
            <a:rect l="l" t="t" r="r" b="b"/>
            <a:pathLst>
              <a:path w="8697365" h="8686493">
                <a:moveTo>
                  <a:pt x="0" y="0"/>
                </a:moveTo>
                <a:lnTo>
                  <a:pt x="8697364" y="0"/>
                </a:lnTo>
                <a:lnTo>
                  <a:pt x="8697364" y="8686493"/>
                </a:lnTo>
                <a:lnTo>
                  <a:pt x="0" y="8686493"/>
                </a:lnTo>
                <a:lnTo>
                  <a:pt x="0" y="0"/>
                </a:lnTo>
                <a:close/>
              </a:path>
            </a:pathLst>
          </a:custGeom>
          <a:blipFill>
            <a:blip r:embed="rId6"/>
            <a:stretch>
              <a:fillRect/>
            </a:stretch>
          </a:blipFill>
        </p:spPr>
      </p:sp>
      <p:sp>
        <p:nvSpPr>
          <p:cNvPr id="5" name="Freeform 5"/>
          <p:cNvSpPr/>
          <p:nvPr/>
        </p:nvSpPr>
        <p:spPr>
          <a:xfrm>
            <a:off x="1571798" y="2190095"/>
            <a:ext cx="6024773" cy="5584211"/>
          </a:xfrm>
          <a:custGeom>
            <a:avLst/>
            <a:gdLst/>
            <a:ahLst/>
            <a:cxnLst/>
            <a:rect l="l" t="t" r="r" b="b"/>
            <a:pathLst>
              <a:path w="6024773" h="5584211">
                <a:moveTo>
                  <a:pt x="0" y="0"/>
                </a:moveTo>
                <a:lnTo>
                  <a:pt x="6024773" y="0"/>
                </a:lnTo>
                <a:lnTo>
                  <a:pt x="6024773" y="5584211"/>
                </a:lnTo>
                <a:lnTo>
                  <a:pt x="0" y="5584211"/>
                </a:lnTo>
                <a:lnTo>
                  <a:pt x="0" y="0"/>
                </a:lnTo>
                <a:close/>
              </a:path>
            </a:pathLst>
          </a:custGeom>
          <a:blipFill>
            <a:blip r:embed="rId7"/>
            <a:stretch>
              <a:fillRect b="-7889"/>
            </a:stretch>
          </a:blipFill>
        </p:spPr>
      </p:sp>
      <p:sp>
        <p:nvSpPr>
          <p:cNvPr id="6" name="TextBox 6"/>
          <p:cNvSpPr txBox="1"/>
          <p:nvPr/>
        </p:nvSpPr>
        <p:spPr>
          <a:xfrm>
            <a:off x="9586984" y="2263930"/>
            <a:ext cx="4843167" cy="3915913"/>
          </a:xfrm>
          <a:prstGeom prst="rect">
            <a:avLst/>
          </a:prstGeom>
        </p:spPr>
        <p:txBody>
          <a:bodyPr lIns="0" tIns="0" rIns="0" bIns="0" rtlCol="0" anchor="t">
            <a:spAutoFit/>
          </a:bodyPr>
          <a:lstStyle/>
          <a:p>
            <a:pPr marL="0" lvl="0" indent="0" algn="ctr">
              <a:lnSpc>
                <a:spcPts val="7802"/>
              </a:lnSpc>
              <a:spcBef>
                <a:spcPct val="0"/>
              </a:spcBef>
            </a:pPr>
            <a:r>
              <a:rPr lang="en-US" sz="5573" b="1" u="none" strike="noStrike">
                <a:solidFill>
                  <a:srgbClr val="263C40"/>
                </a:solidFill>
                <a:latin typeface="Hussar Bold"/>
                <a:ea typeface="Hussar Bold"/>
                <a:cs typeface="Hussar Bold"/>
                <a:sym typeface="Hussar Bold"/>
              </a:rPr>
              <a:t> System Overview</a:t>
            </a:r>
          </a:p>
          <a:p>
            <a:pPr marL="0" lvl="0" indent="0" algn="ctr">
              <a:lnSpc>
                <a:spcPts val="7802"/>
              </a:lnSpc>
              <a:spcBef>
                <a:spcPct val="0"/>
              </a:spcBef>
            </a:pPr>
            <a:endParaRPr lang="en-US" sz="5573" b="1" u="none" strike="noStrike">
              <a:solidFill>
                <a:srgbClr val="263C40"/>
              </a:solidFill>
              <a:latin typeface="Hussar Bold"/>
              <a:ea typeface="Hussar Bold"/>
              <a:cs typeface="Hussar Bold"/>
              <a:sym typeface="Hussar Bold"/>
            </a:endParaRPr>
          </a:p>
          <a:p>
            <a:pPr marL="0" lvl="0" indent="0" algn="ctr">
              <a:lnSpc>
                <a:spcPts val="7802"/>
              </a:lnSpc>
              <a:spcBef>
                <a:spcPct val="0"/>
              </a:spcBef>
            </a:pPr>
            <a:endParaRPr lang="en-US" sz="5573" b="1" u="none" strike="noStrike">
              <a:solidFill>
                <a:srgbClr val="263C40"/>
              </a:solidFill>
              <a:latin typeface="Hussar Bold"/>
              <a:ea typeface="Hussar Bold"/>
              <a:cs typeface="Hussar Bold"/>
              <a:sym typeface="Hussar Bold"/>
            </a:endParaRPr>
          </a:p>
        </p:txBody>
      </p:sp>
      <p:sp>
        <p:nvSpPr>
          <p:cNvPr id="7" name="TextBox 7"/>
          <p:cNvSpPr txBox="1"/>
          <p:nvPr/>
        </p:nvSpPr>
        <p:spPr>
          <a:xfrm>
            <a:off x="9473065" y="4437155"/>
            <a:ext cx="5899130" cy="4354513"/>
          </a:xfrm>
          <a:prstGeom prst="rect">
            <a:avLst/>
          </a:prstGeom>
        </p:spPr>
        <p:txBody>
          <a:bodyPr lIns="0" tIns="0" rIns="0" bIns="0" rtlCol="0" anchor="t">
            <a:spAutoFit/>
          </a:bodyPr>
          <a:lstStyle/>
          <a:p>
            <a:pPr marL="593857" lvl="1" indent="-296928" algn="l">
              <a:lnSpc>
                <a:spcPts val="3850"/>
              </a:lnSpc>
              <a:buFont typeface="Arial"/>
              <a:buChar char="•"/>
            </a:pPr>
            <a:r>
              <a:rPr lang="en-US" sz="2750">
                <a:solidFill>
                  <a:srgbClr val="263C40"/>
                </a:solidFill>
                <a:latin typeface="Poppins"/>
                <a:ea typeface="Poppins"/>
                <a:cs typeface="Poppins"/>
                <a:sym typeface="Poppins"/>
              </a:rPr>
              <a:t>User-friendly web/mobile interface</a:t>
            </a:r>
          </a:p>
          <a:p>
            <a:pPr marL="593857" lvl="1" indent="-296928" algn="l">
              <a:lnSpc>
                <a:spcPts val="3850"/>
              </a:lnSpc>
              <a:buFont typeface="Arial"/>
              <a:buChar char="•"/>
            </a:pPr>
            <a:r>
              <a:rPr lang="en-US" sz="2750">
                <a:solidFill>
                  <a:srgbClr val="263C40"/>
                </a:solidFill>
                <a:latin typeface="Poppins"/>
                <a:ea typeface="Poppins"/>
                <a:cs typeface="Poppins"/>
                <a:sym typeface="Poppins"/>
              </a:rPr>
              <a:t>Admin panel for authorities</a:t>
            </a:r>
          </a:p>
          <a:p>
            <a:pPr marL="593857" lvl="1" indent="-296928" algn="l">
              <a:lnSpc>
                <a:spcPts val="3850"/>
              </a:lnSpc>
              <a:buFont typeface="Arial"/>
              <a:buChar char="•"/>
            </a:pPr>
            <a:r>
              <a:rPr lang="en-US" sz="2750">
                <a:solidFill>
                  <a:srgbClr val="263C40"/>
                </a:solidFill>
                <a:latin typeface="Poppins"/>
                <a:ea typeface="Poppins"/>
                <a:cs typeface="Poppins"/>
                <a:sym typeface="Poppins"/>
              </a:rPr>
              <a:t>Database to store complaints</a:t>
            </a:r>
          </a:p>
          <a:p>
            <a:pPr marL="593857" lvl="1" indent="-296928" algn="l">
              <a:lnSpc>
                <a:spcPts val="3850"/>
              </a:lnSpc>
              <a:buFont typeface="Arial"/>
              <a:buChar char="•"/>
            </a:pPr>
            <a:r>
              <a:rPr lang="en-US" sz="2750">
                <a:solidFill>
                  <a:srgbClr val="263C40"/>
                </a:solidFill>
                <a:latin typeface="Poppins"/>
                <a:ea typeface="Poppins"/>
                <a:cs typeface="Poppins"/>
                <a:sym typeface="Poppins"/>
              </a:rPr>
              <a:t>Notification system for updates</a:t>
            </a:r>
          </a:p>
          <a:p>
            <a:pPr marL="593857" lvl="1" indent="-296928" algn="l">
              <a:lnSpc>
                <a:spcPts val="3850"/>
              </a:lnSpc>
              <a:buFont typeface="Arial"/>
              <a:buChar char="•"/>
            </a:pPr>
            <a:r>
              <a:rPr lang="en-US" sz="2750">
                <a:solidFill>
                  <a:srgbClr val="263C40"/>
                </a:solidFill>
                <a:latin typeface="Poppins"/>
                <a:ea typeface="Poppins"/>
                <a:cs typeface="Poppins"/>
                <a:sym typeface="Poppins"/>
              </a:rPr>
              <a:t>Works as a bridge between citizens &amp; government</a:t>
            </a:r>
          </a:p>
          <a:p>
            <a:pPr marL="0" lvl="0" indent="0" algn="l">
              <a:lnSpc>
                <a:spcPts val="3850"/>
              </a:lnSpc>
              <a:spcBef>
                <a:spcPct val="0"/>
              </a:spcBef>
            </a:pPr>
            <a:endParaRPr lang="en-US" sz="2750">
              <a:solidFill>
                <a:srgbClr val="263C40"/>
              </a:solidFill>
              <a:latin typeface="Poppins"/>
              <a:ea typeface="Poppins"/>
              <a:cs typeface="Poppins"/>
              <a:sym typeface="Poppins"/>
            </a:endParaRPr>
          </a:p>
        </p:txBody>
      </p:sp>
      <p:sp>
        <p:nvSpPr>
          <p:cNvPr id="8" name="Freeform 8"/>
          <p:cNvSpPr/>
          <p:nvPr/>
        </p:nvSpPr>
        <p:spPr>
          <a:xfrm>
            <a:off x="372242" y="-134322"/>
            <a:ext cx="1658793" cy="1711955"/>
          </a:xfrm>
          <a:custGeom>
            <a:avLst/>
            <a:gdLst/>
            <a:ahLst/>
            <a:cxnLst/>
            <a:rect l="l" t="t" r="r" b="b"/>
            <a:pathLst>
              <a:path w="1658793" h="1711955">
                <a:moveTo>
                  <a:pt x="0" y="0"/>
                </a:moveTo>
                <a:lnTo>
                  <a:pt x="1658793" y="0"/>
                </a:lnTo>
                <a:lnTo>
                  <a:pt x="1658793" y="1711955"/>
                </a:lnTo>
                <a:lnTo>
                  <a:pt x="0" y="1711955"/>
                </a:lnTo>
                <a:lnTo>
                  <a:pt x="0" y="0"/>
                </a:lnTo>
                <a:close/>
              </a:path>
            </a:pathLst>
          </a:custGeom>
          <a:blipFill>
            <a:blip r:embed="rId8"/>
            <a:stretch>
              <a:fillRect l="-1602" r="-1602"/>
            </a:stretch>
          </a:blipFill>
        </p:spPr>
      </p:sp>
      <p:sp>
        <p:nvSpPr>
          <p:cNvPr id="9" name="Freeform 9"/>
          <p:cNvSpPr/>
          <p:nvPr/>
        </p:nvSpPr>
        <p:spPr>
          <a:xfrm>
            <a:off x="8073948" y="-134322"/>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9"/>
            <a:stretch>
              <a:fillRect/>
            </a:stretch>
          </a:blipFill>
        </p:spPr>
      </p:sp>
      <p:sp>
        <p:nvSpPr>
          <p:cNvPr id="10" name="Freeform 10"/>
          <p:cNvSpPr/>
          <p:nvPr/>
        </p:nvSpPr>
        <p:spPr>
          <a:xfrm>
            <a:off x="16607312" y="96856"/>
            <a:ext cx="1303975" cy="1281858"/>
          </a:xfrm>
          <a:custGeom>
            <a:avLst/>
            <a:gdLst/>
            <a:ahLst/>
            <a:cxnLst/>
            <a:rect l="l" t="t" r="r" b="b"/>
            <a:pathLst>
              <a:path w="1303975" h="1281858">
                <a:moveTo>
                  <a:pt x="0" y="0"/>
                </a:moveTo>
                <a:lnTo>
                  <a:pt x="1303976" y="0"/>
                </a:lnTo>
                <a:lnTo>
                  <a:pt x="1303976" y="1281858"/>
                </a:lnTo>
                <a:lnTo>
                  <a:pt x="0" y="1281858"/>
                </a:lnTo>
                <a:lnTo>
                  <a:pt x="0" y="0"/>
                </a:lnTo>
                <a:close/>
              </a:path>
            </a:pathLst>
          </a:custGeom>
          <a:blipFill>
            <a:blip r:embed="rId10"/>
            <a:stretch>
              <a:fillRect l="-627" t="-414" b="-414"/>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704351"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6"/>
            <a:stretch>
              <a:fillRect/>
            </a:stretch>
          </a:blipFill>
        </p:spPr>
      </p:sp>
      <p:sp>
        <p:nvSpPr>
          <p:cNvPr id="5" name="TextBox 5"/>
          <p:cNvSpPr txBox="1"/>
          <p:nvPr/>
        </p:nvSpPr>
        <p:spPr>
          <a:xfrm>
            <a:off x="2338020" y="2417144"/>
            <a:ext cx="12054539" cy="1192496"/>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63C40"/>
                </a:solidFill>
                <a:latin typeface="Hussar Bold"/>
                <a:ea typeface="Hussar Bold"/>
                <a:cs typeface="Hussar Bold"/>
                <a:sym typeface="Hussar Bold"/>
              </a:rPr>
              <a:t>K</a:t>
            </a:r>
            <a:r>
              <a:rPr lang="en-US" sz="6999" b="1" u="none" strike="noStrike">
                <a:solidFill>
                  <a:srgbClr val="263C40"/>
                </a:solidFill>
                <a:latin typeface="Hussar Bold"/>
                <a:ea typeface="Hussar Bold"/>
                <a:cs typeface="Hussar Bold"/>
                <a:sym typeface="Hussar Bold"/>
              </a:rPr>
              <a:t>ey Features</a:t>
            </a:r>
          </a:p>
        </p:txBody>
      </p:sp>
      <p:sp>
        <p:nvSpPr>
          <p:cNvPr id="6" name="TextBox 6"/>
          <p:cNvSpPr txBox="1"/>
          <p:nvPr/>
        </p:nvSpPr>
        <p:spPr>
          <a:xfrm>
            <a:off x="4546152" y="3695426"/>
            <a:ext cx="11697087" cy="7069292"/>
          </a:xfrm>
          <a:prstGeom prst="rect">
            <a:avLst/>
          </a:prstGeom>
        </p:spPr>
        <p:txBody>
          <a:bodyPr lIns="0" tIns="0" rIns="0" bIns="0" rtlCol="0" anchor="t">
            <a:spAutoFit/>
          </a:bodyPr>
          <a:lstStyle/>
          <a:p>
            <a:pPr algn="l">
              <a:lnSpc>
                <a:spcPts val="4333"/>
              </a:lnSpc>
            </a:pPr>
            <a:r>
              <a:rPr lang="en-US" sz="3095">
                <a:solidFill>
                  <a:srgbClr val="263C40"/>
                </a:solidFill>
                <a:latin typeface="Poppins"/>
                <a:ea typeface="Poppins"/>
                <a:cs typeface="Poppins"/>
                <a:sym typeface="Poppins"/>
              </a:rPr>
              <a:t>✅ User Friendly Interface</a:t>
            </a:r>
          </a:p>
          <a:p>
            <a:pPr algn="l">
              <a:lnSpc>
                <a:spcPts val="4333"/>
              </a:lnSpc>
            </a:pPr>
            <a:r>
              <a:rPr lang="en-US" sz="3095">
                <a:solidFill>
                  <a:srgbClr val="263C40"/>
                </a:solidFill>
                <a:latin typeface="Poppins"/>
                <a:ea typeface="Poppins"/>
                <a:cs typeface="Poppins"/>
                <a:sym typeface="Poppins"/>
              </a:rPr>
              <a:t>✅ Ticket Generatiion System</a:t>
            </a:r>
          </a:p>
          <a:p>
            <a:pPr algn="l">
              <a:lnSpc>
                <a:spcPts val="4333"/>
              </a:lnSpc>
            </a:pPr>
            <a:r>
              <a:rPr lang="en-US" sz="3095">
                <a:solidFill>
                  <a:srgbClr val="263C40"/>
                </a:solidFill>
                <a:latin typeface="Poppins"/>
                <a:ea typeface="Poppins"/>
                <a:cs typeface="Poppins"/>
                <a:sym typeface="Poppins"/>
              </a:rPr>
              <a:t>✅ Location Based Reporting</a:t>
            </a:r>
          </a:p>
          <a:p>
            <a:pPr algn="l">
              <a:lnSpc>
                <a:spcPts val="4333"/>
              </a:lnSpc>
            </a:pPr>
            <a:r>
              <a:rPr lang="en-US" sz="3095">
                <a:solidFill>
                  <a:srgbClr val="263C40"/>
                </a:solidFill>
                <a:latin typeface="Poppins"/>
                <a:ea typeface="Poppins"/>
                <a:cs typeface="Poppins"/>
                <a:sym typeface="Poppins"/>
              </a:rPr>
              <a:t>✅ Real Time Status Tracking</a:t>
            </a:r>
          </a:p>
          <a:p>
            <a:pPr algn="l">
              <a:lnSpc>
                <a:spcPts val="4333"/>
              </a:lnSpc>
            </a:pPr>
            <a:r>
              <a:rPr lang="en-US" sz="3095">
                <a:solidFill>
                  <a:srgbClr val="263C40"/>
                </a:solidFill>
                <a:latin typeface="Poppins"/>
                <a:ea typeface="Poppins"/>
                <a:cs typeface="Poppins"/>
                <a:sym typeface="Poppins"/>
              </a:rPr>
              <a:t>✅ Image Upload Support</a:t>
            </a:r>
          </a:p>
          <a:p>
            <a:pPr algn="l">
              <a:lnSpc>
                <a:spcPts val="4333"/>
              </a:lnSpc>
            </a:pPr>
            <a:r>
              <a:rPr lang="en-US" sz="3095">
                <a:solidFill>
                  <a:srgbClr val="263C40"/>
                </a:solidFill>
                <a:latin typeface="Poppins"/>
                <a:ea typeface="Poppins"/>
                <a:cs typeface="Poppins"/>
                <a:sym typeface="Poppins"/>
              </a:rPr>
              <a:t>✅ Priority system</a:t>
            </a:r>
          </a:p>
          <a:p>
            <a:pPr algn="l">
              <a:lnSpc>
                <a:spcPts val="4333"/>
              </a:lnSpc>
            </a:pPr>
            <a:r>
              <a:rPr lang="en-US" sz="3095">
                <a:solidFill>
                  <a:srgbClr val="263C40"/>
                </a:solidFill>
                <a:latin typeface="Poppins"/>
                <a:ea typeface="Poppins"/>
                <a:cs typeface="Poppins"/>
                <a:sym typeface="Poppins"/>
              </a:rPr>
              <a:t>✅ Notification &amp; Tracking System</a:t>
            </a:r>
          </a:p>
          <a:p>
            <a:pPr algn="l">
              <a:lnSpc>
                <a:spcPts val="4333"/>
              </a:lnSpc>
            </a:pPr>
            <a:r>
              <a:rPr lang="en-US" sz="3095">
                <a:solidFill>
                  <a:srgbClr val="263C40"/>
                </a:solidFill>
                <a:latin typeface="Poppins"/>
                <a:ea typeface="Poppins"/>
                <a:cs typeface="Poppins"/>
                <a:sym typeface="Poppins"/>
              </a:rPr>
              <a:t>✅ Search &amp; filter system</a:t>
            </a:r>
          </a:p>
          <a:p>
            <a:pPr algn="l">
              <a:lnSpc>
                <a:spcPts val="4333"/>
              </a:lnSpc>
            </a:pPr>
            <a:r>
              <a:rPr lang="en-US" sz="3095">
                <a:solidFill>
                  <a:srgbClr val="263C40"/>
                </a:solidFill>
                <a:latin typeface="Poppins"/>
                <a:ea typeface="Poppins"/>
                <a:cs typeface="Poppins"/>
                <a:sym typeface="Poppins"/>
              </a:rPr>
              <a:t>✅ Admin Dashboard</a:t>
            </a:r>
          </a:p>
          <a:p>
            <a:pPr algn="l">
              <a:lnSpc>
                <a:spcPts val="4333"/>
              </a:lnSpc>
            </a:pPr>
            <a:endParaRPr lang="en-US" sz="3095">
              <a:solidFill>
                <a:srgbClr val="263C40"/>
              </a:solidFill>
              <a:latin typeface="Poppins"/>
              <a:ea typeface="Poppins"/>
              <a:cs typeface="Poppins"/>
              <a:sym typeface="Poppins"/>
            </a:endParaRPr>
          </a:p>
          <a:p>
            <a:pPr algn="l">
              <a:lnSpc>
                <a:spcPts val="4333"/>
              </a:lnSpc>
            </a:pPr>
            <a:endParaRPr lang="en-US" sz="3095">
              <a:solidFill>
                <a:srgbClr val="263C40"/>
              </a:solidFill>
              <a:latin typeface="Poppins"/>
              <a:ea typeface="Poppins"/>
              <a:cs typeface="Poppins"/>
              <a:sym typeface="Poppins"/>
            </a:endParaRPr>
          </a:p>
          <a:p>
            <a:pPr algn="l">
              <a:lnSpc>
                <a:spcPts val="4333"/>
              </a:lnSpc>
            </a:pPr>
            <a:endParaRPr lang="en-US" sz="3095">
              <a:solidFill>
                <a:srgbClr val="263C40"/>
              </a:solidFill>
              <a:latin typeface="Poppins"/>
              <a:ea typeface="Poppins"/>
              <a:cs typeface="Poppins"/>
              <a:sym typeface="Poppins"/>
            </a:endParaRPr>
          </a:p>
          <a:p>
            <a:pPr algn="l">
              <a:lnSpc>
                <a:spcPts val="4333"/>
              </a:lnSpc>
            </a:pPr>
            <a:endParaRPr lang="en-US" sz="3095">
              <a:solidFill>
                <a:srgbClr val="263C40"/>
              </a:solidFill>
              <a:latin typeface="Poppins"/>
              <a:ea typeface="Poppins"/>
              <a:cs typeface="Poppins"/>
              <a:sym typeface="Poppins"/>
            </a:endParaRPr>
          </a:p>
        </p:txBody>
      </p:sp>
      <p:sp>
        <p:nvSpPr>
          <p:cNvPr id="7" name="Freeform 7"/>
          <p:cNvSpPr/>
          <p:nvPr/>
        </p:nvSpPr>
        <p:spPr>
          <a:xfrm>
            <a:off x="258896" y="-134322"/>
            <a:ext cx="1658793" cy="1711955"/>
          </a:xfrm>
          <a:custGeom>
            <a:avLst/>
            <a:gdLst/>
            <a:ahLst/>
            <a:cxnLst/>
            <a:rect l="l" t="t" r="r" b="b"/>
            <a:pathLst>
              <a:path w="1658793" h="1711955">
                <a:moveTo>
                  <a:pt x="0" y="0"/>
                </a:moveTo>
                <a:lnTo>
                  <a:pt x="1658793" y="0"/>
                </a:lnTo>
                <a:lnTo>
                  <a:pt x="1658793" y="1711955"/>
                </a:lnTo>
                <a:lnTo>
                  <a:pt x="0" y="1711955"/>
                </a:lnTo>
                <a:lnTo>
                  <a:pt x="0" y="0"/>
                </a:lnTo>
                <a:close/>
              </a:path>
            </a:pathLst>
          </a:custGeom>
          <a:blipFill>
            <a:blip r:embed="rId7"/>
            <a:stretch>
              <a:fillRect l="-1602" r="-1602"/>
            </a:stretch>
          </a:blipFill>
        </p:spPr>
      </p:sp>
      <p:sp>
        <p:nvSpPr>
          <p:cNvPr id="8" name="Freeform 8"/>
          <p:cNvSpPr/>
          <p:nvPr/>
        </p:nvSpPr>
        <p:spPr>
          <a:xfrm>
            <a:off x="7944958" y="-106948"/>
            <a:ext cx="1513036" cy="1513036"/>
          </a:xfrm>
          <a:custGeom>
            <a:avLst/>
            <a:gdLst/>
            <a:ahLst/>
            <a:cxnLst/>
            <a:rect l="l" t="t" r="r" b="b"/>
            <a:pathLst>
              <a:path w="1513036" h="1513036">
                <a:moveTo>
                  <a:pt x="0" y="0"/>
                </a:moveTo>
                <a:lnTo>
                  <a:pt x="1513036" y="0"/>
                </a:lnTo>
                <a:lnTo>
                  <a:pt x="1513036" y="1513036"/>
                </a:lnTo>
                <a:lnTo>
                  <a:pt x="0" y="1513036"/>
                </a:lnTo>
                <a:lnTo>
                  <a:pt x="0" y="0"/>
                </a:lnTo>
                <a:close/>
              </a:path>
            </a:pathLst>
          </a:custGeom>
          <a:blipFill>
            <a:blip r:embed="rId8"/>
            <a:stretch>
              <a:fillRect/>
            </a:stretch>
          </a:blipFill>
        </p:spPr>
      </p:sp>
      <p:sp>
        <p:nvSpPr>
          <p:cNvPr id="9" name="Freeform 9"/>
          <p:cNvSpPr/>
          <p:nvPr/>
        </p:nvSpPr>
        <p:spPr>
          <a:xfrm>
            <a:off x="16420221" y="124231"/>
            <a:ext cx="1303975" cy="1281858"/>
          </a:xfrm>
          <a:custGeom>
            <a:avLst/>
            <a:gdLst/>
            <a:ahLst/>
            <a:cxnLst/>
            <a:rect l="l" t="t" r="r" b="b"/>
            <a:pathLst>
              <a:path w="1303975" h="1281858">
                <a:moveTo>
                  <a:pt x="0" y="0"/>
                </a:moveTo>
                <a:lnTo>
                  <a:pt x="1303975" y="0"/>
                </a:lnTo>
                <a:lnTo>
                  <a:pt x="1303975" y="1281857"/>
                </a:lnTo>
                <a:lnTo>
                  <a:pt x="0" y="1281857"/>
                </a:lnTo>
                <a:lnTo>
                  <a:pt x="0" y="0"/>
                </a:lnTo>
                <a:close/>
              </a:path>
            </a:pathLst>
          </a:custGeom>
          <a:blipFill>
            <a:blip r:embed="rId9"/>
            <a:stretch>
              <a:fillRect l="-627" t="-414" b="-414"/>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1513669" y="9229725"/>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783800" y="2490114"/>
            <a:ext cx="6522534" cy="6514380"/>
          </a:xfrm>
          <a:custGeom>
            <a:avLst/>
            <a:gdLst/>
            <a:ahLst/>
            <a:cxnLst/>
            <a:rect l="l" t="t" r="r" b="b"/>
            <a:pathLst>
              <a:path w="6522534" h="6514380">
                <a:moveTo>
                  <a:pt x="0" y="0"/>
                </a:moveTo>
                <a:lnTo>
                  <a:pt x="6522534" y="0"/>
                </a:lnTo>
                <a:lnTo>
                  <a:pt x="6522534" y="6514381"/>
                </a:lnTo>
                <a:lnTo>
                  <a:pt x="0" y="6514381"/>
                </a:lnTo>
                <a:lnTo>
                  <a:pt x="0" y="0"/>
                </a:lnTo>
                <a:close/>
              </a:path>
            </a:pathLst>
          </a:custGeom>
          <a:blipFill>
            <a:blip r:embed="rId6"/>
            <a:stretch>
              <a:fillRect/>
            </a:stretch>
          </a:blipFill>
        </p:spPr>
      </p:sp>
      <p:sp>
        <p:nvSpPr>
          <p:cNvPr id="5" name="TextBox 5"/>
          <p:cNvSpPr txBox="1"/>
          <p:nvPr/>
        </p:nvSpPr>
        <p:spPr>
          <a:xfrm>
            <a:off x="10596500" y="3799163"/>
            <a:ext cx="5070034" cy="3639835"/>
          </a:xfrm>
          <a:prstGeom prst="rect">
            <a:avLst/>
          </a:prstGeom>
        </p:spPr>
        <p:txBody>
          <a:bodyPr lIns="0" tIns="0" rIns="0" bIns="0" rtlCol="0" anchor="t">
            <a:spAutoFit/>
          </a:bodyPr>
          <a:lstStyle/>
          <a:p>
            <a:pPr marL="637446" lvl="1" indent="-318723" algn="l">
              <a:lnSpc>
                <a:spcPts val="4133"/>
              </a:lnSpc>
              <a:buFont typeface="Arial"/>
              <a:buChar char="•"/>
            </a:pPr>
            <a:r>
              <a:rPr lang="en-US" sz="2952">
                <a:solidFill>
                  <a:srgbClr val="263C40"/>
                </a:solidFill>
                <a:latin typeface="Poppins"/>
                <a:ea typeface="Poppins"/>
                <a:cs typeface="Poppins"/>
                <a:sym typeface="Poppins"/>
              </a:rPr>
              <a:t>Admin reviews and assigns task</a:t>
            </a:r>
          </a:p>
          <a:p>
            <a:pPr algn="l">
              <a:lnSpc>
                <a:spcPts val="4133"/>
              </a:lnSpc>
            </a:pPr>
            <a:endParaRPr lang="en-US" sz="2952">
              <a:solidFill>
                <a:srgbClr val="263C40"/>
              </a:solidFill>
              <a:latin typeface="Poppins"/>
              <a:ea typeface="Poppins"/>
              <a:cs typeface="Poppins"/>
              <a:sym typeface="Poppins"/>
            </a:endParaRPr>
          </a:p>
          <a:p>
            <a:pPr marL="637446" lvl="1" indent="-318723" algn="l">
              <a:lnSpc>
                <a:spcPts val="4133"/>
              </a:lnSpc>
              <a:buFont typeface="Arial"/>
              <a:buChar char="•"/>
            </a:pPr>
            <a:r>
              <a:rPr lang="en-US" sz="2952">
                <a:solidFill>
                  <a:srgbClr val="263C40"/>
                </a:solidFill>
                <a:latin typeface="Poppins"/>
                <a:ea typeface="Poppins"/>
                <a:cs typeface="Poppins"/>
                <a:sym typeface="Poppins"/>
              </a:rPr>
              <a:t>Issue gets resolved</a:t>
            </a:r>
          </a:p>
          <a:p>
            <a:pPr algn="l">
              <a:lnSpc>
                <a:spcPts val="4133"/>
              </a:lnSpc>
            </a:pPr>
            <a:endParaRPr lang="en-US" sz="2952">
              <a:solidFill>
                <a:srgbClr val="263C40"/>
              </a:solidFill>
              <a:latin typeface="Poppins"/>
              <a:ea typeface="Poppins"/>
              <a:cs typeface="Poppins"/>
              <a:sym typeface="Poppins"/>
            </a:endParaRPr>
          </a:p>
          <a:p>
            <a:pPr marL="637446" lvl="1" indent="-318723" algn="l">
              <a:lnSpc>
                <a:spcPts val="4133"/>
              </a:lnSpc>
              <a:buFont typeface="Arial"/>
              <a:buChar char="•"/>
            </a:pPr>
            <a:r>
              <a:rPr lang="en-US" sz="2952">
                <a:solidFill>
                  <a:srgbClr val="263C40"/>
                </a:solidFill>
                <a:latin typeface="Poppins"/>
                <a:ea typeface="Poppins"/>
                <a:cs typeface="Poppins"/>
                <a:sym typeface="Poppins"/>
              </a:rPr>
              <a:t>User receives update</a:t>
            </a:r>
          </a:p>
          <a:p>
            <a:pPr algn="l">
              <a:lnSpc>
                <a:spcPts val="4133"/>
              </a:lnSpc>
            </a:pPr>
            <a:endParaRPr lang="en-US" sz="2952">
              <a:solidFill>
                <a:srgbClr val="263C40"/>
              </a:solidFill>
              <a:latin typeface="Poppins"/>
              <a:ea typeface="Poppins"/>
              <a:cs typeface="Poppins"/>
              <a:sym typeface="Poppins"/>
            </a:endParaRPr>
          </a:p>
        </p:txBody>
      </p:sp>
      <p:sp>
        <p:nvSpPr>
          <p:cNvPr id="6" name="TextBox 6"/>
          <p:cNvSpPr txBox="1"/>
          <p:nvPr/>
        </p:nvSpPr>
        <p:spPr>
          <a:xfrm>
            <a:off x="3818176" y="1288094"/>
            <a:ext cx="10549706" cy="1202021"/>
          </a:xfrm>
          <a:prstGeom prst="rect">
            <a:avLst/>
          </a:prstGeom>
        </p:spPr>
        <p:txBody>
          <a:bodyPr lIns="0" tIns="0" rIns="0" bIns="0" rtlCol="0" anchor="t">
            <a:spAutoFit/>
          </a:bodyPr>
          <a:lstStyle/>
          <a:p>
            <a:pPr marL="0" lvl="0" indent="0" algn="ctr">
              <a:lnSpc>
                <a:spcPts val="9800"/>
              </a:lnSpc>
              <a:spcBef>
                <a:spcPct val="0"/>
              </a:spcBef>
            </a:pPr>
            <a:r>
              <a:rPr lang="en-US" sz="7000">
                <a:solidFill>
                  <a:srgbClr val="263C40"/>
                </a:solidFill>
                <a:latin typeface="Hussar Bold"/>
                <a:ea typeface="Hussar Bold"/>
                <a:cs typeface="Hussar Bold"/>
                <a:sym typeface="Hussar Bold"/>
              </a:rPr>
              <a:t>Worki</a:t>
            </a:r>
            <a:r>
              <a:rPr lang="en-US" sz="7000" b="1" u="none" strike="noStrike">
                <a:solidFill>
                  <a:srgbClr val="263C40"/>
                </a:solidFill>
                <a:latin typeface="Hussar Bold"/>
                <a:ea typeface="Hussar Bold"/>
                <a:cs typeface="Hussar Bold"/>
                <a:sym typeface="Hussar Bold"/>
              </a:rPr>
              <a:t>ng Process</a:t>
            </a:r>
          </a:p>
        </p:txBody>
      </p:sp>
      <p:sp>
        <p:nvSpPr>
          <p:cNvPr id="7" name="Freeform 7"/>
          <p:cNvSpPr/>
          <p:nvPr/>
        </p:nvSpPr>
        <p:spPr>
          <a:xfrm>
            <a:off x="2621466" y="2490114"/>
            <a:ext cx="6522534" cy="6514380"/>
          </a:xfrm>
          <a:custGeom>
            <a:avLst/>
            <a:gdLst/>
            <a:ahLst/>
            <a:cxnLst/>
            <a:rect l="l" t="t" r="r" b="b"/>
            <a:pathLst>
              <a:path w="6522534" h="6514380">
                <a:moveTo>
                  <a:pt x="0" y="0"/>
                </a:moveTo>
                <a:lnTo>
                  <a:pt x="6522534" y="0"/>
                </a:lnTo>
                <a:lnTo>
                  <a:pt x="6522534" y="6514381"/>
                </a:lnTo>
                <a:lnTo>
                  <a:pt x="0" y="6514381"/>
                </a:lnTo>
                <a:lnTo>
                  <a:pt x="0" y="0"/>
                </a:lnTo>
                <a:close/>
              </a:path>
            </a:pathLst>
          </a:custGeom>
          <a:blipFill>
            <a:blip r:embed="rId6"/>
            <a:stretch>
              <a:fillRect/>
            </a:stretch>
          </a:blipFill>
        </p:spPr>
      </p:sp>
      <p:sp>
        <p:nvSpPr>
          <p:cNvPr id="8" name="TextBox 8"/>
          <p:cNvSpPr txBox="1"/>
          <p:nvPr/>
        </p:nvSpPr>
        <p:spPr>
          <a:xfrm>
            <a:off x="3736238" y="3721654"/>
            <a:ext cx="4578374" cy="4286018"/>
          </a:xfrm>
          <a:prstGeom prst="rect">
            <a:avLst/>
          </a:prstGeom>
        </p:spPr>
        <p:txBody>
          <a:bodyPr lIns="0" tIns="0" rIns="0" bIns="0" rtlCol="0" anchor="t">
            <a:spAutoFit/>
          </a:bodyPr>
          <a:lstStyle/>
          <a:p>
            <a:pPr marL="658717" lvl="1" indent="-329358" algn="ctr">
              <a:lnSpc>
                <a:spcPts val="4271"/>
              </a:lnSpc>
              <a:buFont typeface="Arial"/>
              <a:buChar char="•"/>
            </a:pPr>
            <a:r>
              <a:rPr lang="en-US" sz="3051">
                <a:solidFill>
                  <a:srgbClr val="263C40"/>
                </a:solidFill>
                <a:latin typeface="Poppins"/>
                <a:ea typeface="Poppins"/>
                <a:cs typeface="Poppins"/>
                <a:sym typeface="Poppins"/>
              </a:rPr>
              <a:t>User logs into the system</a:t>
            </a:r>
          </a:p>
          <a:p>
            <a:pPr marL="658717" lvl="1" indent="-329358" algn="ctr">
              <a:lnSpc>
                <a:spcPts val="4271"/>
              </a:lnSpc>
              <a:buFont typeface="Arial"/>
              <a:buChar char="•"/>
            </a:pPr>
            <a:r>
              <a:rPr lang="en-US" sz="3051">
                <a:solidFill>
                  <a:srgbClr val="263C40"/>
                </a:solidFill>
                <a:latin typeface="Poppins"/>
                <a:ea typeface="Poppins"/>
                <a:cs typeface="Poppins"/>
                <a:sym typeface="Poppins"/>
              </a:rPr>
              <a:t>Submits complaint with details</a:t>
            </a:r>
          </a:p>
          <a:p>
            <a:pPr marL="658717" lvl="1" indent="-329358" algn="ctr">
              <a:lnSpc>
                <a:spcPts val="4271"/>
              </a:lnSpc>
              <a:buFont typeface="Arial"/>
              <a:buChar char="•"/>
            </a:pPr>
            <a:r>
              <a:rPr lang="en-US" sz="3051">
                <a:solidFill>
                  <a:srgbClr val="263C40"/>
                </a:solidFill>
                <a:latin typeface="Poppins"/>
                <a:ea typeface="Poppins"/>
                <a:cs typeface="Poppins"/>
                <a:sym typeface="Poppins"/>
              </a:rPr>
              <a:t>Data stored in database</a:t>
            </a:r>
          </a:p>
          <a:p>
            <a:pPr algn="ctr">
              <a:lnSpc>
                <a:spcPts val="4271"/>
              </a:lnSpc>
            </a:pPr>
            <a:endParaRPr lang="en-US" sz="3051">
              <a:solidFill>
                <a:srgbClr val="263C40"/>
              </a:solidFill>
              <a:latin typeface="Poppins"/>
              <a:ea typeface="Poppins"/>
              <a:cs typeface="Poppins"/>
              <a:sym typeface="Poppins"/>
            </a:endParaRPr>
          </a:p>
          <a:p>
            <a:pPr marL="0" lvl="0" indent="0" algn="ctr">
              <a:lnSpc>
                <a:spcPts val="4271"/>
              </a:lnSpc>
              <a:spcBef>
                <a:spcPct val="0"/>
              </a:spcBef>
            </a:pPr>
            <a:endParaRPr lang="en-US" sz="3051">
              <a:solidFill>
                <a:srgbClr val="263C40"/>
              </a:solidFill>
              <a:latin typeface="Poppins"/>
              <a:ea typeface="Poppins"/>
              <a:cs typeface="Poppins"/>
              <a:sym typeface="Poppins"/>
            </a:endParaRPr>
          </a:p>
        </p:txBody>
      </p:sp>
      <p:sp>
        <p:nvSpPr>
          <p:cNvPr id="9" name="Freeform 9"/>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10" name="Freeform 10"/>
          <p:cNvSpPr/>
          <p:nvPr/>
        </p:nvSpPr>
        <p:spPr>
          <a:xfrm>
            <a:off x="8229600" y="0"/>
            <a:ext cx="1693179" cy="1430969"/>
          </a:xfrm>
          <a:custGeom>
            <a:avLst/>
            <a:gdLst/>
            <a:ahLst/>
            <a:cxnLst/>
            <a:rect l="l" t="t" r="r" b="b"/>
            <a:pathLst>
              <a:path w="1693179" h="1430969">
                <a:moveTo>
                  <a:pt x="0" y="0"/>
                </a:moveTo>
                <a:lnTo>
                  <a:pt x="1693179" y="0"/>
                </a:lnTo>
                <a:lnTo>
                  <a:pt x="1693179" y="1430969"/>
                </a:lnTo>
                <a:lnTo>
                  <a:pt x="0" y="1430969"/>
                </a:lnTo>
                <a:lnTo>
                  <a:pt x="0" y="0"/>
                </a:lnTo>
                <a:close/>
              </a:path>
            </a:pathLst>
          </a:custGeom>
          <a:blipFill>
            <a:blip r:embed="rId8"/>
            <a:stretch>
              <a:fillRect t="-4850" b="-13473"/>
            </a:stretch>
          </a:blipFill>
        </p:spPr>
      </p:sp>
      <p:sp>
        <p:nvSpPr>
          <p:cNvPr id="11" name="Freeform 11"/>
          <p:cNvSpPr/>
          <p:nvPr/>
        </p:nvSpPr>
        <p:spPr>
          <a:xfrm>
            <a:off x="16306334" y="97451"/>
            <a:ext cx="1394361" cy="1370711"/>
          </a:xfrm>
          <a:custGeom>
            <a:avLst/>
            <a:gdLst/>
            <a:ahLst/>
            <a:cxnLst/>
            <a:rect l="l" t="t" r="r" b="b"/>
            <a:pathLst>
              <a:path w="1394361" h="1370711">
                <a:moveTo>
                  <a:pt x="0" y="0"/>
                </a:moveTo>
                <a:lnTo>
                  <a:pt x="1394361" y="0"/>
                </a:lnTo>
                <a:lnTo>
                  <a:pt x="1394361" y="1370710"/>
                </a:lnTo>
                <a:lnTo>
                  <a:pt x="0" y="1370710"/>
                </a:lnTo>
                <a:lnTo>
                  <a:pt x="0" y="0"/>
                </a:lnTo>
                <a:close/>
              </a:path>
            </a:pathLst>
          </a:custGeom>
          <a:blipFill>
            <a:blip r:embed="rId9"/>
            <a:stretch>
              <a:fillRect l="-627" t="-414" b="-414"/>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5400000">
            <a:off x="13440972" y="-1054589"/>
            <a:ext cx="3792439" cy="5901617"/>
          </a:xfrm>
          <a:custGeom>
            <a:avLst/>
            <a:gdLst/>
            <a:ahLst/>
            <a:cxnLst/>
            <a:rect l="l" t="t" r="r" b="b"/>
            <a:pathLst>
              <a:path w="3792439" h="5901617">
                <a:moveTo>
                  <a:pt x="0" y="0"/>
                </a:moveTo>
                <a:lnTo>
                  <a:pt x="3792439" y="0"/>
                </a:lnTo>
                <a:lnTo>
                  <a:pt x="3792439" y="5901617"/>
                </a:lnTo>
                <a:lnTo>
                  <a:pt x="0" y="590161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28700" y="1028700"/>
            <a:ext cx="8697365" cy="8686493"/>
          </a:xfrm>
          <a:custGeom>
            <a:avLst/>
            <a:gdLst/>
            <a:ahLst/>
            <a:cxnLst/>
            <a:rect l="l" t="t" r="r" b="b"/>
            <a:pathLst>
              <a:path w="8697365" h="8686493">
                <a:moveTo>
                  <a:pt x="0" y="0"/>
                </a:moveTo>
                <a:lnTo>
                  <a:pt x="8697365" y="0"/>
                </a:lnTo>
                <a:lnTo>
                  <a:pt x="8697365" y="8686493"/>
                </a:lnTo>
                <a:lnTo>
                  <a:pt x="0" y="8686493"/>
                </a:lnTo>
                <a:lnTo>
                  <a:pt x="0" y="0"/>
                </a:lnTo>
                <a:close/>
              </a:path>
            </a:pathLst>
          </a:custGeom>
          <a:blipFill>
            <a:blip r:embed="rId6"/>
            <a:stretch>
              <a:fillRect/>
            </a:stretch>
          </a:blipFill>
        </p:spPr>
      </p:sp>
      <p:sp>
        <p:nvSpPr>
          <p:cNvPr id="6" name="Freeform 6"/>
          <p:cNvSpPr/>
          <p:nvPr/>
        </p:nvSpPr>
        <p:spPr>
          <a:xfrm>
            <a:off x="10509742" y="0"/>
            <a:ext cx="7778258" cy="10287000"/>
          </a:xfrm>
          <a:custGeom>
            <a:avLst/>
            <a:gdLst/>
            <a:ahLst/>
            <a:cxnLst/>
            <a:rect l="l" t="t" r="r" b="b"/>
            <a:pathLst>
              <a:path w="7778258" h="10287000">
                <a:moveTo>
                  <a:pt x="0" y="0"/>
                </a:moveTo>
                <a:lnTo>
                  <a:pt x="7778258" y="0"/>
                </a:lnTo>
                <a:lnTo>
                  <a:pt x="7778258" y="10287000"/>
                </a:lnTo>
                <a:lnTo>
                  <a:pt x="0" y="10287000"/>
                </a:lnTo>
                <a:lnTo>
                  <a:pt x="0" y="0"/>
                </a:lnTo>
                <a:close/>
              </a:path>
            </a:pathLst>
          </a:custGeom>
          <a:blipFill>
            <a:blip r:embed="rId7"/>
            <a:stretch>
              <a:fillRect l="-17558" t="-4938" r="-27758" b="-4938"/>
            </a:stretch>
          </a:blipFill>
        </p:spPr>
      </p:sp>
      <p:sp>
        <p:nvSpPr>
          <p:cNvPr id="7" name="TextBox 7"/>
          <p:cNvSpPr txBox="1"/>
          <p:nvPr/>
        </p:nvSpPr>
        <p:spPr>
          <a:xfrm>
            <a:off x="1782459" y="4835984"/>
            <a:ext cx="7189847" cy="3119760"/>
          </a:xfrm>
          <a:prstGeom prst="rect">
            <a:avLst/>
          </a:prstGeom>
        </p:spPr>
        <p:txBody>
          <a:bodyPr lIns="0" tIns="0" rIns="0" bIns="0" rtlCol="0" anchor="t">
            <a:spAutoFit/>
          </a:bodyPr>
          <a:lstStyle/>
          <a:p>
            <a:pPr marL="640352" lvl="1" indent="-320176" algn="l">
              <a:lnSpc>
                <a:spcPts val="4152"/>
              </a:lnSpc>
              <a:spcBef>
                <a:spcPct val="0"/>
              </a:spcBef>
              <a:buFont typeface="Arial"/>
              <a:buChar char="•"/>
            </a:pPr>
            <a:r>
              <a:rPr lang="en-US" sz="2965">
                <a:solidFill>
                  <a:srgbClr val="263C40"/>
                </a:solidFill>
                <a:latin typeface="Poppins"/>
                <a:ea typeface="Poppins"/>
                <a:cs typeface="Poppins"/>
                <a:sym typeface="Poppins"/>
              </a:rPr>
              <a:t>Mobile application development</a:t>
            </a:r>
          </a:p>
          <a:p>
            <a:pPr marL="640352" lvl="1" indent="-320176" algn="l">
              <a:lnSpc>
                <a:spcPts val="4152"/>
              </a:lnSpc>
              <a:spcBef>
                <a:spcPct val="0"/>
              </a:spcBef>
              <a:buFont typeface="Arial"/>
              <a:buChar char="•"/>
            </a:pPr>
            <a:r>
              <a:rPr lang="en-US" sz="2965">
                <a:solidFill>
                  <a:srgbClr val="263C40"/>
                </a:solidFill>
                <a:latin typeface="Poppins"/>
                <a:ea typeface="Poppins"/>
                <a:cs typeface="Poppins"/>
                <a:sym typeface="Poppins"/>
              </a:rPr>
              <a:t>AI-based issue detection</a:t>
            </a:r>
          </a:p>
          <a:p>
            <a:pPr marL="640352" lvl="1" indent="-320176" algn="l">
              <a:lnSpc>
                <a:spcPts val="4152"/>
              </a:lnSpc>
              <a:spcBef>
                <a:spcPct val="0"/>
              </a:spcBef>
              <a:buFont typeface="Arial"/>
              <a:buChar char="•"/>
            </a:pPr>
            <a:r>
              <a:rPr lang="en-US" sz="2965">
                <a:solidFill>
                  <a:srgbClr val="263C40"/>
                </a:solidFill>
                <a:latin typeface="Poppins"/>
                <a:ea typeface="Poppins"/>
                <a:cs typeface="Poppins"/>
                <a:sym typeface="Poppins"/>
              </a:rPr>
              <a:t>AI Priority Scoring</a:t>
            </a:r>
          </a:p>
          <a:p>
            <a:pPr marL="640352" lvl="1" indent="-320176" algn="l">
              <a:lnSpc>
                <a:spcPts val="4152"/>
              </a:lnSpc>
              <a:spcBef>
                <a:spcPct val="0"/>
              </a:spcBef>
              <a:buFont typeface="Arial"/>
              <a:buChar char="•"/>
            </a:pPr>
            <a:r>
              <a:rPr lang="en-US" sz="2965">
                <a:solidFill>
                  <a:srgbClr val="263C40"/>
                </a:solidFill>
                <a:latin typeface="Poppins"/>
                <a:ea typeface="Poppins"/>
                <a:cs typeface="Poppins"/>
                <a:sym typeface="Poppins"/>
              </a:rPr>
              <a:t>SLA Timer(Countdown system)</a:t>
            </a:r>
          </a:p>
          <a:p>
            <a:pPr marL="640352" lvl="1" indent="-320176" algn="l">
              <a:lnSpc>
                <a:spcPts val="4152"/>
              </a:lnSpc>
              <a:spcBef>
                <a:spcPct val="0"/>
              </a:spcBef>
              <a:buFont typeface="Arial"/>
              <a:buChar char="•"/>
            </a:pPr>
            <a:r>
              <a:rPr lang="en-US" sz="2965">
                <a:solidFill>
                  <a:srgbClr val="263C40"/>
                </a:solidFill>
                <a:latin typeface="Poppins"/>
                <a:ea typeface="Poppins"/>
                <a:cs typeface="Poppins"/>
                <a:sym typeface="Poppins"/>
              </a:rPr>
              <a:t>Offline Mode</a:t>
            </a:r>
          </a:p>
          <a:p>
            <a:pPr algn="l">
              <a:lnSpc>
                <a:spcPts val="4152"/>
              </a:lnSpc>
              <a:spcBef>
                <a:spcPct val="0"/>
              </a:spcBef>
            </a:pPr>
            <a:endParaRPr lang="en-US" sz="2965">
              <a:solidFill>
                <a:srgbClr val="263C40"/>
              </a:solidFill>
              <a:latin typeface="Poppins"/>
              <a:ea typeface="Poppins"/>
              <a:cs typeface="Poppins"/>
              <a:sym typeface="Poppins"/>
            </a:endParaRPr>
          </a:p>
        </p:txBody>
      </p:sp>
      <p:sp>
        <p:nvSpPr>
          <p:cNvPr id="8" name="TextBox 8"/>
          <p:cNvSpPr txBox="1"/>
          <p:nvPr/>
        </p:nvSpPr>
        <p:spPr>
          <a:xfrm>
            <a:off x="2238973" y="2152416"/>
            <a:ext cx="5938900" cy="2432050"/>
          </a:xfrm>
          <a:prstGeom prst="rect">
            <a:avLst/>
          </a:prstGeom>
        </p:spPr>
        <p:txBody>
          <a:bodyPr lIns="0" tIns="0" rIns="0" bIns="0" rtlCol="0" anchor="t">
            <a:spAutoFit/>
          </a:bodyPr>
          <a:lstStyle/>
          <a:p>
            <a:pPr marL="0" lvl="0" indent="0" algn="ctr">
              <a:lnSpc>
                <a:spcPts val="9799"/>
              </a:lnSpc>
              <a:spcBef>
                <a:spcPct val="0"/>
              </a:spcBef>
            </a:pPr>
            <a:r>
              <a:rPr lang="en-US" sz="6999">
                <a:solidFill>
                  <a:srgbClr val="263C40"/>
                </a:solidFill>
                <a:latin typeface="Hussar Bold"/>
                <a:ea typeface="Hussar Bold"/>
                <a:cs typeface="Hussar Bold"/>
                <a:sym typeface="Hussar Bold"/>
              </a:rPr>
              <a:t>Future Sc</a:t>
            </a:r>
            <a:r>
              <a:rPr lang="en-US" sz="6999" b="1" u="none" strike="noStrike">
                <a:solidFill>
                  <a:srgbClr val="263C40"/>
                </a:solidFill>
                <a:latin typeface="Hussar Bold"/>
                <a:ea typeface="Hussar Bold"/>
                <a:cs typeface="Hussar Bold"/>
                <a:sym typeface="Hussar Bold"/>
              </a:rPr>
              <a:t>ope</a:t>
            </a:r>
          </a:p>
        </p:txBody>
      </p:sp>
      <p:sp>
        <p:nvSpPr>
          <p:cNvPr id="9" name="Freeform 9"/>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8"/>
            <a:stretch>
              <a:fillRect l="-615" t="-15707" b="-15707"/>
            </a:stretch>
          </a:blipFill>
        </p:spPr>
      </p:sp>
      <p:sp>
        <p:nvSpPr>
          <p:cNvPr id="10" name="Freeform 10"/>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9"/>
            <a:stretch>
              <a:fillRect t="-4850" b="-13473"/>
            </a:stretch>
          </a:blipFill>
        </p:spPr>
      </p:sp>
      <p:sp>
        <p:nvSpPr>
          <p:cNvPr id="11" name="Freeform 11"/>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10"/>
            <a:stretch>
              <a:fillRect l="-627" t="-414" b="-414"/>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a:off x="2634987" y="1028700"/>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2"/>
            <a:stretch>
              <a:fillRect/>
            </a:stretch>
          </a:blipFill>
        </p:spPr>
      </p:sp>
      <p:sp>
        <p:nvSpPr>
          <p:cNvPr id="3" name="TextBox 3"/>
          <p:cNvSpPr txBox="1"/>
          <p:nvPr/>
        </p:nvSpPr>
        <p:spPr>
          <a:xfrm>
            <a:off x="4609709" y="1982262"/>
            <a:ext cx="9068583" cy="1960026"/>
          </a:xfrm>
          <a:prstGeom prst="rect">
            <a:avLst/>
          </a:prstGeom>
        </p:spPr>
        <p:txBody>
          <a:bodyPr lIns="0" tIns="0" rIns="0" bIns="0" rtlCol="0" anchor="t">
            <a:spAutoFit/>
          </a:bodyPr>
          <a:lstStyle/>
          <a:p>
            <a:pPr algn="ctr">
              <a:lnSpc>
                <a:spcPts val="16005"/>
              </a:lnSpc>
              <a:spcBef>
                <a:spcPct val="0"/>
              </a:spcBef>
            </a:pPr>
            <a:r>
              <a:rPr lang="en-US" sz="11432">
                <a:solidFill>
                  <a:srgbClr val="263C40"/>
                </a:solidFill>
                <a:latin typeface="Hussar Bold"/>
                <a:ea typeface="Hussar Bold"/>
                <a:cs typeface="Hussar Bold"/>
                <a:sym typeface="Hussar Bold"/>
              </a:rPr>
              <a:t>Conclusion</a:t>
            </a:r>
          </a:p>
        </p:txBody>
      </p:sp>
      <p:sp>
        <p:nvSpPr>
          <p:cNvPr id="4" name="Freeform 4"/>
          <p:cNvSpPr/>
          <p:nvPr/>
        </p:nvSpPr>
        <p:spPr>
          <a:xfrm>
            <a:off x="114300" y="9258300"/>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400000" flipH="1">
            <a:off x="11422044" y="3449619"/>
            <a:ext cx="5372100" cy="8359811"/>
          </a:xfrm>
          <a:custGeom>
            <a:avLst/>
            <a:gdLst/>
            <a:ahLst/>
            <a:cxnLst/>
            <a:rect l="l" t="t" r="r" b="b"/>
            <a:pathLst>
              <a:path w="5372100" h="8359811">
                <a:moveTo>
                  <a:pt x="5372100" y="0"/>
                </a:moveTo>
                <a:lnTo>
                  <a:pt x="0" y="0"/>
                </a:lnTo>
                <a:lnTo>
                  <a:pt x="0" y="8359812"/>
                </a:lnTo>
                <a:lnTo>
                  <a:pt x="5372100" y="8359812"/>
                </a:lnTo>
                <a:lnTo>
                  <a:pt x="537210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3828640" y="4294212"/>
            <a:ext cx="10491992" cy="4209850"/>
          </a:xfrm>
          <a:prstGeom prst="rect">
            <a:avLst/>
          </a:prstGeom>
        </p:spPr>
        <p:txBody>
          <a:bodyPr lIns="0" tIns="0" rIns="0" bIns="0" rtlCol="0" anchor="t">
            <a:spAutoFit/>
          </a:bodyPr>
          <a:lstStyle/>
          <a:p>
            <a:pPr marL="649075" lvl="1" indent="-324537" algn="l">
              <a:lnSpc>
                <a:spcPts val="4208"/>
              </a:lnSpc>
              <a:buFont typeface="Arial"/>
              <a:buChar char="•"/>
            </a:pPr>
            <a:r>
              <a:rPr lang="en-US" sz="3006">
                <a:solidFill>
                  <a:srgbClr val="263C40"/>
                </a:solidFill>
                <a:latin typeface="Hussar Bold"/>
                <a:ea typeface="Hussar Bold"/>
                <a:cs typeface="Hussar Bold"/>
                <a:sym typeface="Hussar Bold"/>
              </a:rPr>
              <a:t>Provides efficient urban problem management</a:t>
            </a:r>
          </a:p>
          <a:p>
            <a:pPr marL="649075" lvl="1" indent="-324537" algn="l">
              <a:lnSpc>
                <a:spcPts val="4208"/>
              </a:lnSpc>
              <a:buFont typeface="Arial"/>
              <a:buChar char="•"/>
            </a:pPr>
            <a:r>
              <a:rPr lang="en-US" sz="3006">
                <a:solidFill>
                  <a:srgbClr val="263C40"/>
                </a:solidFill>
                <a:latin typeface="Hussar Bold"/>
                <a:ea typeface="Hussar Bold"/>
                <a:cs typeface="Hussar Bold"/>
                <a:sym typeface="Hussar Bold"/>
              </a:rPr>
              <a:t>Improves communication between citizens &amp; authorities</a:t>
            </a:r>
          </a:p>
          <a:p>
            <a:pPr marL="649075" lvl="1" indent="-324537" algn="l">
              <a:lnSpc>
                <a:spcPts val="4208"/>
              </a:lnSpc>
              <a:buFont typeface="Arial"/>
              <a:buChar char="•"/>
            </a:pPr>
            <a:r>
              <a:rPr lang="en-US" sz="3006">
                <a:solidFill>
                  <a:srgbClr val="263C40"/>
                </a:solidFill>
                <a:latin typeface="Hussar Bold"/>
                <a:ea typeface="Hussar Bold"/>
                <a:cs typeface="Hussar Bold"/>
                <a:sym typeface="Hussar Bold"/>
              </a:rPr>
              <a:t>Saves time and increases transparency</a:t>
            </a:r>
          </a:p>
          <a:p>
            <a:pPr marL="649075" lvl="1" indent="-324537" algn="l">
              <a:lnSpc>
                <a:spcPts val="4208"/>
              </a:lnSpc>
              <a:buFont typeface="Arial"/>
              <a:buChar char="•"/>
            </a:pPr>
            <a:r>
              <a:rPr lang="en-US" sz="3006">
                <a:solidFill>
                  <a:srgbClr val="263C40"/>
                </a:solidFill>
                <a:latin typeface="Hussar Bold"/>
                <a:ea typeface="Hussar Bold"/>
                <a:cs typeface="Hussar Bold"/>
                <a:sym typeface="Hussar Bold"/>
              </a:rPr>
              <a:t>Step towards smart city development</a:t>
            </a:r>
          </a:p>
          <a:p>
            <a:pPr algn="ctr">
              <a:lnSpc>
                <a:spcPts val="8413"/>
              </a:lnSpc>
              <a:spcBef>
                <a:spcPct val="0"/>
              </a:spcBef>
            </a:pPr>
            <a:endParaRPr lang="en-US" sz="3006">
              <a:solidFill>
                <a:srgbClr val="263C40"/>
              </a:solidFill>
              <a:latin typeface="Hussar Bold"/>
              <a:ea typeface="Hussar Bold"/>
              <a:cs typeface="Hussar Bold"/>
              <a:sym typeface="Hussar Bold"/>
            </a:endParaRPr>
          </a:p>
        </p:txBody>
      </p:sp>
      <p:sp>
        <p:nvSpPr>
          <p:cNvPr id="7" name="Freeform 7"/>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8" name="Freeform 8"/>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8"/>
            <a:stretch>
              <a:fillRect t="-4850" b="-13473"/>
            </a:stretch>
          </a:blipFill>
        </p:spPr>
      </p:sp>
      <p:sp>
        <p:nvSpPr>
          <p:cNvPr id="9" name="Freeform 9"/>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FF2"/>
        </a:solidFill>
        <a:effectLst/>
      </p:bgPr>
    </p:bg>
    <p:spTree>
      <p:nvGrpSpPr>
        <p:cNvPr id="1" name=""/>
        <p:cNvGrpSpPr/>
        <p:nvPr/>
      </p:nvGrpSpPr>
      <p:grpSpPr>
        <a:xfrm>
          <a:off x="0" y="0"/>
          <a:ext cx="0" cy="0"/>
          <a:chOff x="0" y="0"/>
          <a:chExt cx="0" cy="0"/>
        </a:xfrm>
      </p:grpSpPr>
      <p:sp>
        <p:nvSpPr>
          <p:cNvPr id="2" name="Freeform 2"/>
          <p:cNvSpPr/>
          <p:nvPr/>
        </p:nvSpPr>
        <p:spPr>
          <a:xfrm rot="5400000">
            <a:off x="1018926" y="5638349"/>
            <a:ext cx="3664189" cy="5702041"/>
          </a:xfrm>
          <a:custGeom>
            <a:avLst/>
            <a:gdLst/>
            <a:ahLst/>
            <a:cxnLst/>
            <a:rect l="l" t="t" r="r" b="b"/>
            <a:pathLst>
              <a:path w="3664189" h="5702041">
                <a:moveTo>
                  <a:pt x="0" y="0"/>
                </a:moveTo>
                <a:lnTo>
                  <a:pt x="3664189" y="0"/>
                </a:lnTo>
                <a:lnTo>
                  <a:pt x="3664189" y="5702040"/>
                </a:lnTo>
                <a:lnTo>
                  <a:pt x="0" y="570204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2851020" y="1217068"/>
            <a:ext cx="12879297" cy="8693526"/>
          </a:xfrm>
          <a:custGeom>
            <a:avLst/>
            <a:gdLst/>
            <a:ahLst/>
            <a:cxnLst/>
            <a:rect l="l" t="t" r="r" b="b"/>
            <a:pathLst>
              <a:path w="12879297" h="8693526">
                <a:moveTo>
                  <a:pt x="0" y="0"/>
                </a:moveTo>
                <a:lnTo>
                  <a:pt x="12879298" y="0"/>
                </a:lnTo>
                <a:lnTo>
                  <a:pt x="12879298" y="8693526"/>
                </a:lnTo>
                <a:lnTo>
                  <a:pt x="0" y="8693526"/>
                </a:lnTo>
                <a:lnTo>
                  <a:pt x="0" y="0"/>
                </a:lnTo>
                <a:close/>
              </a:path>
            </a:pathLst>
          </a:custGeom>
          <a:blipFill>
            <a:blip r:embed="rId4"/>
            <a:stretch>
              <a:fillRect/>
            </a:stretch>
          </a:blipFill>
        </p:spPr>
      </p:sp>
      <p:sp>
        <p:nvSpPr>
          <p:cNvPr id="4" name="Freeform 4"/>
          <p:cNvSpPr/>
          <p:nvPr/>
        </p:nvSpPr>
        <p:spPr>
          <a:xfrm>
            <a:off x="11513669" y="9073998"/>
            <a:ext cx="7315200" cy="4003409"/>
          </a:xfrm>
          <a:custGeom>
            <a:avLst/>
            <a:gdLst/>
            <a:ahLst/>
            <a:cxnLst/>
            <a:rect l="l" t="t" r="r" b="b"/>
            <a:pathLst>
              <a:path w="7315200" h="4003409">
                <a:moveTo>
                  <a:pt x="0" y="0"/>
                </a:moveTo>
                <a:lnTo>
                  <a:pt x="7315200" y="0"/>
                </a:lnTo>
                <a:lnTo>
                  <a:pt x="7315200" y="4003409"/>
                </a:lnTo>
                <a:lnTo>
                  <a:pt x="0" y="40034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5873610" y="2885984"/>
            <a:ext cx="6540781" cy="5069945"/>
          </a:xfrm>
          <a:prstGeom prst="rect">
            <a:avLst/>
          </a:prstGeom>
        </p:spPr>
        <p:txBody>
          <a:bodyPr lIns="0" tIns="0" rIns="0" bIns="0" rtlCol="0" anchor="t">
            <a:spAutoFit/>
          </a:bodyPr>
          <a:lstStyle/>
          <a:p>
            <a:pPr algn="ctr">
              <a:lnSpc>
                <a:spcPts val="20333"/>
              </a:lnSpc>
            </a:pPr>
            <a:r>
              <a:rPr lang="en-US" sz="14524">
                <a:solidFill>
                  <a:srgbClr val="263C40"/>
                </a:solidFill>
                <a:latin typeface="Hussar Bold"/>
                <a:ea typeface="Hussar Bold"/>
                <a:cs typeface="Hussar Bold"/>
                <a:sym typeface="Hussar Bold"/>
              </a:rPr>
              <a:t>Thank</a:t>
            </a:r>
          </a:p>
          <a:p>
            <a:pPr algn="ctr">
              <a:lnSpc>
                <a:spcPts val="20333"/>
              </a:lnSpc>
              <a:spcBef>
                <a:spcPct val="0"/>
              </a:spcBef>
            </a:pPr>
            <a:r>
              <a:rPr lang="en-US" sz="14524">
                <a:solidFill>
                  <a:srgbClr val="263C40"/>
                </a:solidFill>
                <a:latin typeface="Hussar Bold"/>
                <a:ea typeface="Hussar Bold"/>
                <a:cs typeface="Hussar Bold"/>
                <a:sym typeface="Hussar Bold"/>
              </a:rPr>
              <a:t>You</a:t>
            </a:r>
          </a:p>
        </p:txBody>
      </p:sp>
      <p:sp>
        <p:nvSpPr>
          <p:cNvPr id="6" name="Freeform 6"/>
          <p:cNvSpPr/>
          <p:nvPr/>
        </p:nvSpPr>
        <p:spPr>
          <a:xfrm>
            <a:off x="275755" y="97451"/>
            <a:ext cx="1863826" cy="1427016"/>
          </a:xfrm>
          <a:custGeom>
            <a:avLst/>
            <a:gdLst/>
            <a:ahLst/>
            <a:cxnLst/>
            <a:rect l="l" t="t" r="r" b="b"/>
            <a:pathLst>
              <a:path w="1863826" h="1427016">
                <a:moveTo>
                  <a:pt x="0" y="0"/>
                </a:moveTo>
                <a:lnTo>
                  <a:pt x="1863827" y="0"/>
                </a:lnTo>
                <a:lnTo>
                  <a:pt x="1863827" y="1427016"/>
                </a:lnTo>
                <a:lnTo>
                  <a:pt x="0" y="1427016"/>
                </a:lnTo>
                <a:lnTo>
                  <a:pt x="0" y="0"/>
                </a:lnTo>
                <a:close/>
              </a:path>
            </a:pathLst>
          </a:custGeom>
          <a:blipFill>
            <a:blip r:embed="rId7"/>
            <a:stretch>
              <a:fillRect l="-615" t="-15707" b="-15707"/>
            </a:stretch>
          </a:blipFill>
        </p:spPr>
      </p:sp>
      <p:sp>
        <p:nvSpPr>
          <p:cNvPr id="7" name="Freeform 7"/>
          <p:cNvSpPr/>
          <p:nvPr/>
        </p:nvSpPr>
        <p:spPr>
          <a:xfrm>
            <a:off x="8229600" y="0"/>
            <a:ext cx="1828800" cy="1545587"/>
          </a:xfrm>
          <a:custGeom>
            <a:avLst/>
            <a:gdLst/>
            <a:ahLst/>
            <a:cxnLst/>
            <a:rect l="l" t="t" r="r" b="b"/>
            <a:pathLst>
              <a:path w="1828800" h="1545587">
                <a:moveTo>
                  <a:pt x="0" y="0"/>
                </a:moveTo>
                <a:lnTo>
                  <a:pt x="1828800" y="0"/>
                </a:lnTo>
                <a:lnTo>
                  <a:pt x="1828800" y="1545587"/>
                </a:lnTo>
                <a:lnTo>
                  <a:pt x="0" y="1545587"/>
                </a:lnTo>
                <a:lnTo>
                  <a:pt x="0" y="0"/>
                </a:lnTo>
                <a:close/>
              </a:path>
            </a:pathLst>
          </a:custGeom>
          <a:blipFill>
            <a:blip r:embed="rId8"/>
            <a:stretch>
              <a:fillRect t="-4850" b="-13473"/>
            </a:stretch>
          </a:blipFill>
        </p:spPr>
      </p:sp>
      <p:sp>
        <p:nvSpPr>
          <p:cNvPr id="8" name="Freeform 8"/>
          <p:cNvSpPr/>
          <p:nvPr/>
        </p:nvSpPr>
        <p:spPr>
          <a:xfrm>
            <a:off x="16506439" y="97451"/>
            <a:ext cx="1505722" cy="1480182"/>
          </a:xfrm>
          <a:custGeom>
            <a:avLst/>
            <a:gdLst/>
            <a:ahLst/>
            <a:cxnLst/>
            <a:rect l="l" t="t" r="r" b="b"/>
            <a:pathLst>
              <a:path w="1505722" h="1480182">
                <a:moveTo>
                  <a:pt x="0" y="0"/>
                </a:moveTo>
                <a:lnTo>
                  <a:pt x="1505722" y="0"/>
                </a:lnTo>
                <a:lnTo>
                  <a:pt x="1505722" y="1480182"/>
                </a:lnTo>
                <a:lnTo>
                  <a:pt x="0" y="1480182"/>
                </a:lnTo>
                <a:lnTo>
                  <a:pt x="0" y="0"/>
                </a:lnTo>
                <a:close/>
              </a:path>
            </a:pathLst>
          </a:custGeom>
          <a:blipFill>
            <a:blip r:embed="rId9"/>
            <a:stretch>
              <a:fillRect l="-627" t="-414" b="-41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Words>
  <Application>Microsoft Office PowerPoint</Application>
  <PresentationFormat>Custom</PresentationFormat>
  <Paragraphs>65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Canva Sans</vt:lpstr>
      <vt:lpstr>Arial</vt:lpstr>
      <vt:lpstr>Canva Sans Bold</vt:lpstr>
      <vt:lpstr>Calibri</vt:lpstr>
      <vt:lpstr>Poppins Bold</vt:lpstr>
      <vt:lpstr>Poppins</vt:lpstr>
      <vt:lpstr>Hussar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Maecenas scelerisque sapien quam, et ornare tortor faucibus at. Nullam elementum dolor quis mollis eleifend. Sed in tempus quam. Donec augue tortor, suscipit sit amet cursus in, maximus sit amet</dc:title>
  <dc:creator>NANDIKA</dc:creator>
  <cp:lastModifiedBy>NANDINI PARSAD</cp:lastModifiedBy>
  <cp:revision>1</cp:revision>
  <dcterms:created xsi:type="dcterms:W3CDTF">2006-08-16T00:00:00Z</dcterms:created>
  <dcterms:modified xsi:type="dcterms:W3CDTF">2026-04-21T21:56:53Z</dcterms:modified>
  <dc:identifier>DAHHLSyXb68</dc:identifier>
</cp:coreProperties>
</file>